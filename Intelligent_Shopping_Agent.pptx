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73" r:id="rId12"/>
    <p:sldId id="266" r:id="rId13"/>
    <p:sldId id="267" r:id="rId14"/>
    <p:sldId id="268" r:id="rId15"/>
    <p:sldId id="269" r:id="rId16"/>
    <p:sldId id="272" r:id="rId17"/>
    <p:sldId id="270"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0T00:41:42.756"/>
    </inkml:context>
    <inkml:brush xml:id="br0">
      <inkml:brushProperty name="width" value="0.1" units="cm"/>
      <inkml:brushProperty name="height" value="0.1" units="cm"/>
      <inkml:brushProperty name="color" value="#FFFFFF"/>
    </inkml:brush>
  </inkml:definitions>
  <inkml:trace contextRef="#ctx0" brushRef="#br0">1909 384 9830,'45'0'860,"-6"1"-344,0-1 0,1-2 0,-1-2 0,39-10 0,-18 1 464,0 3 0,74-4 0,121 8 1392,-133 6-1416,125-17 0,-213 11-501,-34 6-444,0 0 0,0 0-1,0 0 1,0-1 0,0 1 0,0 0 0,0 0-1,0 0 1,0 0 0,0 0 0,0 0 0,0 0 0,0 0-1,0 0 1,0 0 0,0-1 0,0 1 0,0 0-1,0 0 1,0 0 0,0 0 0,0 0 0,0 0-1,0 0 1,0 0 0,0-1 0,0 1 0,0 0 0,0 0-1,0 0 1,0 0 0,0 0 0,0 0 0,0 0-1,0 0 1,0 0 0,0 0 0,0-1 0,0 1 0,0 0-1,0 0 1,0 0 0,1 0 0,-1 0 0,0 0-1,0 0 1,0 0 0,0 0 0,0 0 0,0 0-1,0 0 1,0 0 0,0 0 0,1 0 0,-1 0 0,-16-4 415,-25 0 226,-42 5-253,-1 3 0,2 4 0,-1 3 0,-86 24 0,-316 114 1187,447-134-1586,24-9 0,-1 0 0,0-2 0,0 1 0,-20 2 0,-529 71 0,265-35 0,296-42 0,-50 9 0,53-10 0,0 0 0,0 0 0,0 0 0,0 0 0,0 1 0,0-1 0,0 0 0,1 0 0,-1 0 0,0 0 0,0 0 0,0 0 0,0 0 0,0 0 0,0 1 0,0-1 0,0 0 0,0 0 0,0 0 0,0 0 0,0 0 0,0 0 0,0 1 0,0-1 0,0 0 0,0 0 0,0 0 0,0 0 0,0 0 0,0 0 0,0 0 0,0 1 0,0-1 0,0 0 0,0 0 0,-1 0 0,1 0 0,0 0 0,0 0 0,0 0 0,0 0 0,0 0 0,0 1 0,0-1 0,0 0 0,0 0 0,0 0 0,-1 0 0,1 0 0,0 0 0,0 0 0,0 0 0,0 0 0,0 0 0,0 0 0,-1 0 0,34 4 0,626 2 0,-394-9 0,865-1 0,-1006 2 0,-93-4 17,-31 6-17,0 0 1,1 0-1,-1 0 0,0-1 1,0 1-1,0 0 1,0 0-1,1 0 0,-1 0 1,0-1-1,0 1 0,0 0 1,0 0-1,0 0 0,0-1 1,0 1-1,1 0 0,-1 0 1,0 0-1,0-1 0,0 1 1,0 0-1,0 0 1,0 0-1,0-1 0,0 1 1,0 0-1,0 0 0,0-1 1,0 1-1,0 0 0,-1 0 1,1 0-1,0-1 0,0 1 1,0 0-1,0 0 1,0 0-1,0-1 0,0 1 1,-1 0-1,1 0 0,0 0 1,0 0-1,0-1 0,0 1 1,-1 0-1,1 0 0,0 0 1,0 0-1,-1 0 1,-43-21-164,42 20 146,-84-27-586,-92-17 1,5 2 613,167 41-21,-49-17 4,53 19-24,0-1-1,0 1 1,0-1-1,1 0 1,-1 0-1,0 0 1,1 0-1,-1 0 0,1 0 1,-1 0-1,1 0 1,0-1-1,-1 1 1,1-1-1,0 1 1,0-1-1,0 1 0,0-1 1,0 1-1,0-1 1,-1-3-1,3 3-13,-1 1 0,1 0 1,0-1-1,-1 1 0,1 0 0,0 0 0,0-1 1,0 1-1,0 0 0,0 0 0,0 0 0,0 0 0,1 0 1,-1 1-1,0-1 0,0 0 0,1 0 0,-1 1 0,0-1 1,1 1-1,-1-1 0,1 1 0,1 0 0,25-8 136,0 2 0,0 1 0,0 1 1,54 0-1,-42 3 12,878 16 970,-866-10-962,-46-3-19,-10 0 16,-74 5 323,30-4-319,30-2-102,-1154 78 558,816-73-569,-58 2 0,825-11 0,-59 1 0,-323 2-26,0-1 1,-1-2-1,54-12 1,-78 14-30,0-1-1,0 1 1,0-1 0,0 1 0,0-1 0,-1-1 0,1 1-1,0 0 1,3-4 0,-7 5 7,1 0-1,0 0 1,0 0-1,-1 0 1,1 0 0,-1 0-1,1-1 1,-1 1-1,1 0 1,-1 0 0,0-1-1,0 1 1,1 0-1,-1-1 1,0 1-1,0 0 1,0 0 0,-1-1-1,1 1 1,0 0-1,0-1 1,-1 1 0,1 0-1,-1 0 1,1 0-1,-1-1 1,1 1 0,-1 0-1,0 0 1,1 0-1,-1 0 1,0 0 0,0 0-1,0 0 1,-1-1-1,-6-6-296,0 0 0,-1 0-1,0 0 1,0 1-1,0 1 1,-1 0 0,-19-9-1,-85-30-1891,79 33 1637,-590-158-3850,552 152 4293,-81-24-1051,115 23 147,38 19 1050,1-1 0,-1 1 0,1 0 0,-1-1 0,1 1-1,-1 0 1,1-1 0,-1 1 0,1-1 0,0 1 0,-1-1-1,1 1 1,0-1 0,-1 1 0,1-1 0,0 1 0,0-1-1,-1 1 1,1-1 0,0 1 0,0-1 0,0 0 0,0 1 0,0-1-1,0 1 1,0-1 0,0 0 0,0 1 0,0-1 0,0 0-1,4-2 108,-1 0 0,0 1 0,1 0 0,-1 0 1,1 0-1,-1 0 0,1 0 0,0 1 0,0 0 0,0-1 0,0 2 0,0-1 0,8 0 0,103-15 1717,0 6 1,152 5 0,-147 5-965,29-2 36,482 13 1133,-571-2-1375,-56-5-97,-14 0 68,-32 2 85,0-2 1,-45-2 0,35-1-186,22 2-262,54 2-239,78 7-13,69 10 0,-143-17 0,0 1 0,0 2 0,48 20 0,-74-28 0,-1 1 0,0-1 0,1 1 0,-1-1 0,0 1 0,0 0 0,1-1 0,-1 1 0,0 0 0,0 0 0,0 0 0,0 0 0,0 0 0,0 0 0,0 0 0,0 0 0,0 0 0,-1 0 0,1 1 0,0-1 0,-1 0 0,1 0 0,-1 1 0,1 1 0,-1-1 0,-1-1 0,1 1 0,-1-1 0,1 0 0,-1 1 0,0-1 0,0 0 0,0 1 0,0-1 0,0 0 0,0 0 0,0 0 0,0 0 0,0 0 0,0 0 0,0 0 0,-1 0 0,-1 1 0,-10 5 0,-1 0 0,0-1 0,-19 6 0,27-10 0,-6 1 0,-24 11 0,35-13 0,0-1 0,0 1 0,0 0 0,0-1 0,0 1 0,0 0 0,0 0 0,0 0 0,0 0 0,0 0 0,1 0 0,-1 0 0,0 0 0,1 0 0,-1 0 0,0 0 0,1 0 0,0 0 0,-1 1 0,1-1 0,0 0 0,-1 0 0,1 1 0,0 1 0,0-1 0,1 0 0,-1 0 0,0 1 0,0-1 0,0 0 0,0 0 0,-1 0 0,1 0 0,-1 0 0,1 0 0,-1 0 0,0 0 0,1 0 0,-1 0 0,0 0 0,0 0 0,-1 0 0,1 0 0,0-1 0,-1 1 0,1-1 0,-1 1 0,1-1 0,-3 2 0,-3 1 0,-1-1 0,0 1 0,1-2 0,-1 1 0,0-1 0,-12 1 0,-69 12 0,-119 5 0,-98-13 0,201-6 0,-96 0 0,399-1 0,80 5 0,646 56 0,-8 36 0,-843-91 0,-51-5 0,-1 2 0,0 0 0,0 0 0,28 10 0,-46-9 0,-14-2 0,-827 18 0,-693-129-2754,1394 87 2810,90 8 115,47 14-169,0 0 0,-1 0-1,1 0 1,0 0 0,0 0-1,0 0 1,0-1 0,0 1 0,0 0-1,0 0 1,-1 0 0,1 0 0,0 0-1,0 0 1,0 0 0,0-1 0,0 1-1,0 0 1,0 0 0,0 0 0,0 0-1,0 0 1,0 0 0,0-1 0,0 1-1,0 0 1,0 0 0,0 0 0,0 0-1,0 0 1,0-1 0,0 1 0,0 0-1,0 0 1,0 0 0,0 0 0,0 0-1,0 0 1,0-1 0,0 1-1,1 0 1,-1 0 0,0 0 0,0 0-1,0 0 1,0 0 0,0 0 0,0 0-1,0-1 1,0 1 0,1 0 0,-1 0-1,0 0 1,0 0 0,0 0 0,0 0-1,0 0 1,0 0 0,1 0 0,-1 0-1,0 0 1,25-5 118,121-4 146,190 11 1,-146 3-49,-120-3-125,94-4 95,-51-16 250,459 4 325,-459 14-697,-850-20-66,527 11 0,153 6 0,58 2 0,-1 1 0,0 0 0,0 0 0,0 0 0,0 0 0,0 0 0,0 0 0,1-1 0,-1 1 0,0 0 0,0 0 0,0 0 0,0 0 0,0-1 0,0 1 0,0 0 0,0 0 0,0 0 0,0 0 0,0-1 0,0 1 0,0 0 0,0 0 0,0 0 0,0-1 0,0 1 0,0 0 0,0 0 0,0 0 0,0 0 0,0-1 0,0 1 0,0 0 0,0 0 0,-1 0 0,1 0 0,0-1 0,0 1 0,0 0 0,0 0 0,0 0 0,0 0 0,-1 0 0,1-1 0,22-6 0,1 0 0,0 1 0,0 1 0,28-2 0,107-5 0,-95 9 0,230-6 0,-204 7 0,-526 4 0,641-2 0,268-2 0,553 5 0,-946 1 0,-91 0 0,-39-1 0,-1370 17 0,1348-20 0,51 0-1,-575-8-186,19-27-119,556 33 302,-1-1-1,-42-10 0,62 9 39,11 0 4,39-3 47,180-5 98,150 5-43,504 10-106,3 52-40,-637-22 6,-219-29 0,0 2 0,37 12 0,-64-18 0,-1 0 0,1 1 0,0-1 0,0 0 0,0 1 0,-1-1 0,1 0 0,0 1 0,0-1 0,-1 1 0,1-1 0,0 1 0,-1 0 0,1-1 0,-1 1 0,1-1 0,-1 1 0,1 0 0,-1 0 0,1 1 0,-1-2 0,0 1 0,-1-1 0,1 1 0,0-1 0,-1 1 0,1 0 0,-1-1 0,1 1 0,-1-1 0,1 0 0,-1 1 0,1-1 0,-1 1 0,1-1 0,-1 0 0,1 1 0,-1-1 0,0 0 0,1 0 0,-1 1 0,0-1 0,1 0 0,-2 0 0,-30 7 0,-1-1 0,0-2 0,0-1 0,-42-2 0,27 0 0,-653 2 0,663-4 0,33 0 0,9 1 0,69-1 0,135 2 0,124 10 0,1189 141 0,-1460-140 0,-53-8 0,-16-2 0,-176-15-1108,-216-31-3964,-607-87-2411,23 3 4785,-10 24 4409,692 72 968,-363-76-3908,558 85 1995,80 14-179,22 4-28,47 1 691,189 23 2534,-101-6-2001,917 47 1754,-287-22-2603,-596-21-934,-121-5 0,-42-12 0,-1 0 0,0 0 0,1 0 0,-1 0 0,0 0 0,0 0 0,1 1 0,-1-1 0,0 0 0,1 0 0,-1 0 0,0 0 0,0 0 0,1 1 0,-1-1 0,0 0 0,0 0 0,0 1 0,1-1 0,-1 0 0,0 0 0,0 1 0,0-1 0,0 0 0,1 0 0,-1 1 0,0-1 0,0 0 0,0 1 0,0-1 0,0 0 0,0 0 0,0 1 0,0-1 0,0 0 0,0 1 0,0-1 0,0 0 0,0 1 0,0-1 0,0 0 0,0 0 0,0 1 0,-1-1 0,1 0 0,0 1 0,0-1 0,0 0 0,-1 1 0,-6 3 0,0-1 0,0 1 0,-1-1 0,1-1 0,-1 1 0,-15 2 0,-626 93 0,497-81 0,-1734 127 0,1850-142 0,33-2 0,7 1 0,57-1 0,-35-1 0,1454-6 0,-2579 7 0,1067 1 0,41 0 0,66 3 0,-69-4 0,1469 28 0,-1425-28 0,23 2 0,-73-2 0,0 0 0,0 0 0,0 1 0,0-1 0,0 0 0,0 0 0,0 0 0,0 0 0,-1 0 0,1 0 0,0 0 0,0 1 0,0-1 0,0 0 0,0 0 0,0 0 0,0 0 0,0 0 0,0 0 0,0 0 0,1 1 0,-1-1 0,0 0 0,0 0 0,0 0 0,0 0 0,0 0 0,0 0 0,0 0 0,0 1 0,0-1 0,0 0 0,-44 6 0,-880 37 0,747-40 0,-381 5 0,418-9 0,120-3 0,35-4 0,234-53-1611,-140 38 252,958-202-3320,-947 198 5093,-116 27-387,-1-1 0,0 0 0,1 1 0,-1-1 0,0 0 0,0-1 0,0 1 0,1-1 1,-1 1-1,-1-1 0,4-2 0,-7 3-12,0 0-1,0 1 1,0-1 0,0 0-1,0 1 1,0-1 0,0 1-1,0-1 1,0 1 0,-1 0-1,1-1 1,0 1 0,0 0-1,0 0 1,-1 0 0,1 0-1,0 0 1,-3 0 0,-86 2 327,-170 34 1455,2002-95 2692,-1713 59-4486,-18 0-3,61-2 0,-65 2 0,-9 0 0,-32 0 0,-1583 2 0,2467-2 0,-2124 0 0,1521 21 0,-77 1 0,-145-16 0,-19 0 0,-9-4 0,1-1 0,-1 0 0,1 0 0,-1 0 0,0 0 0,1 0 0,-1-1 0,0 1 0,1-1 0,-6 0 0,-183 16 0,-1350 5 0,1121-22 0,-88 0 0,401-5 0,106 6-2,1 0 0,0 0 0,0 0 1,-1 0-1,1 0 0,0 0 0,-1 0 1,1 0-1,0 0 0,0 0 0,-1 0 1,1 0-1,0 0 0,-1 0 0,1 0 1,0 0-1,0 0 0,-1 0 0,1 0 1,0 0-1,0-1 0,-1 1 0,1 0 1,0 0-1,0 0 0,-1 0 0,1-1 1,0 1-1,0 0 0,0 0 0,-1 0 1,1-1-1,0 1 0,0 0 0,0 0 1,0-1-1,0 1 0,0 0 0,-1 0 1,1-1-1,0 1 0,0 0 0,0 0 1,0-1-1,0 1 0,23-9-561,142-22-3186,246-16 0,-307 38 3139,-33 3 559,393-30 662,-330 32-186,192 18-1,-283-9-272,51 12 0,-79-14-98,-1 2 0,0-1-1,-1 2 1,1 0 0,-1 0 0,24 17 0,-36-22-40,1-1 0,-1 1 1,0 0-1,0 0 1,1 0-1,-1 0 0,0 0 1,0 0-1,0 0 1,0 0-1,0 1 1,0-1-1,-1 0 0,1 0 1,0 1-1,-1-1 1,1 1-1,-1-1 0,1 1 1,-1-1-1,1 1 1,-1-1-1,0 1 0,0-1 1,0 3-1,-1-3 13,0 1 0,1 0-1,-1-1 1,-1 1-1,1 0 1,0-1 0,0 1-1,-1-1 1,1 1-1,0-1 1,-1 0 0,1 0-1,-1 0 1,0 0 0,1 0-1,-4 1 1,-9 4 86,0 0 1,0-2-1,-28 6 0,3-4-2,29-5-59,0 0-1,0 1 0,0-1 0,0 2 0,0 0 0,0 0 0,1 1 0,-17 8 0,26-12-38,0 0 0,-1 1-1,1-1 1,0 0 0,0 0 0,-1 1-1,1-1 1,0 0 0,0 1 0,0-1 0,-1 0-1,1 1 1,0-1 0,0 0 0,0 1-1,0-1 1,0 1 0,0-1 0,0 0 0,0 1-1,0-1 1,0 0 0,0 1 0,0-1-1,0 1 1,0-1 0,0 0 0,0 1 0,1-1-1,-1 0 1,0 1 0,0-1 0,0 0-1,0 1 1,1-1 0,-1 0 0,0 0 0,0 1-1,1-1 1,-1 0 0,0 0 0,1 1-1,-1-1 1,0 0 0,1 0 0,-1 0 0,0 1-1,1-1 1,-1 0 0,0 0 0,1 0-1,-1 0 1,0 0 0,1 0 0,-1 0 0,0 0-1,1 0 1,-1 0 0,1 0 0,-1 0-1,24 8 412,0-1-1,0-2 0,1 0 0,-1-1 0,35 0 0,-2 1 46,1230 47 531,-936-47-976,-144 3-24,-128 1 0,-79-9 0,0 0 0,1 0 0,-1 0 0,1 0 0,-1 0 0,0 0 0,1 0 0,-1 0 0,1 0 0,-1 0 0,0 0 0,1 1 0,-1-1 0,0 0 0,1 0 0,-1 0 0,1 0 0,-1 1 0,0-1 0,1 0 0,-1 0 0,0 1 0,0-1 0,1 0 0,-1 1 0,0-1 0,0 0 0,1 1 0,-1-1 0,0 0 0,0 1 0,0-1 0,0 0 0,1 1 0,-1-1 0,0 1 0,0-1 0,0 0 0,0 1 0,-32 12 0,-79 8 0,-135 8 0,225-27 0,-304 24 0,-1500 18 0,1228-39 0,522-4 0,65 1 0,15-1 0,138 5 0,276-1 0,249 0 0,180-1 0,-67-3 0,1622 20 0,-2017-7 0,-216-2 0,-158-9 0,-12 0 0,-30 1 0,-511 8 0,361-12 0,-868-31-1979,9-45 86,833 56 2065,120 7 127,77 9-157,11 0 70,48-3 505,165-1 482,159 3-251,135 4-765,954 28-183,-25 90 0,-1395-111 0,57 13 0,-89-12 0,-16-1 0,-66 5 0,-182-1 0,-590-1 0,-428 13 0,897-4 0,269-13 0,-243 19 0,323-19 0,39-1 0,270 5 0,-186-9 0,457-2 0,596 15 0,-761 26 0,-339-24 0,-51-15 0,0 0 0,1 0 0,-1 0 0,0 0 0,0 1 0,0-1 0,1 0 0,-1 0 0,0 0 0,0 0 0,0 1 0,1-1 0,-1 0 0,0 0 0,0 1 0,0-1 0,0 0 0,0 0 0,1 1 0,-1-1 0,0 0 0,0 0 0,0 1 0,0-1 0,0 0 0,0 0 0,0 1 0,0-1 0,0 0 0,0 0 0,0 1 0,0-1 0,0 0 0,0 1 0,0-1 0,-1 0 0,1 0 0,0 0 0,0 1 0,0-1 0,0 0 0,0 0 0,-1 1 0,1-1 0,0 0 0,0 0 0,0 0 0,0 1 0,-1-1 0,1 0 0,0 0 0,0 0 0,-1 0 0,1 0 0,0 0 0,0 1 0,-1-1 0,1 0 0,0 0 0,0 0 0,-1 0 0,1 0 0,-1 0 0,-11 3 0,0 1 0,0-2 0,0 0 0,-15 1 0,-600 6 0,414-12 0,124 1 0,63 0 0,26 2 0,0 0 0,0-1 0,0 1 0,0 0 0,1 0 0,-1 0 0,0 0 0,0 0 0,0 0 0,0 0 0,0 0 0,0 0 0,0 0 0,0 0 0,0 0 0,0 0 0,0-1 0,0 1 0,0 0 0,0 0 0,0 0 0,0 0 0,0 0 0,0 0 0,0 0 0,0 0 0,0 0 0,0 0 0,0-1 0,0 1 0,0 0 0,0 0 0,0 0 0,0 0 0,0 0 0,0 0 0,0 0 0,0 0 0,0 0 0,0 0 0,-1 0 0,1 0 0,0-1 0,0 1 0,0 0 0,0 0 0,0 0 0,0 0 0,0 0 0,47-6 0,660-14 0,-532 20 0,539-2 0,-669 2 0,-99 1 0,-1467-1 0,1497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rohitsainirs007@gmail.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fontScale="90000"/>
          </a:bodyPr>
          <a:lstStyle/>
          <a:p>
            <a:pPr lvl="0" algn="ctr"/>
            <a:r>
              <a:rPr lang="en-US" sz="6600" b="1" dirty="0"/>
              <a:t>Intelligent Shopping Agent: A Cognitive Consumer Intelligence Platform</a:t>
            </a:r>
            <a:br>
              <a:rPr lang="en-US" b="1" dirty="0"/>
            </a:br>
            <a:endParaRPr dirty="0"/>
          </a:p>
        </p:txBody>
      </p:sp>
      <p:sp>
        <p:nvSpPr>
          <p:cNvPr id="79" name="Google Shape;79;p33"/>
          <p:cNvSpPr txBox="1">
            <a:spLocks noGrp="1"/>
          </p:cNvSpPr>
          <p:nvPr>
            <p:ph type="body" idx="1"/>
          </p:nvPr>
        </p:nvSpPr>
        <p:spPr>
          <a:xfrm>
            <a:off x="621190" y="4146731"/>
            <a:ext cx="11177270" cy="1500187"/>
          </a:xfrm>
          <a:prstGeom prst="rect">
            <a:avLst/>
          </a:prstGeom>
          <a:noFill/>
          <a:ln>
            <a:noFill/>
          </a:ln>
        </p:spPr>
        <p:txBody>
          <a:bodyPr spcFirstLastPara="1" wrap="square" lIns="91425" tIns="45700" rIns="91425" bIns="45700" anchor="t" anchorCtr="0">
            <a:normAutofit/>
          </a:bodyPr>
          <a:lstStyle/>
          <a:p>
            <a:pPr lvl="0" algn="ctr"/>
            <a:r>
              <a:rPr lang="en-US" b="1" i="1" dirty="0"/>
              <a:t>“</a:t>
            </a:r>
            <a:r>
              <a:rPr lang="en-US" dirty="0"/>
              <a:t>Harnessing the Power of Agentic AI using IBM watsonx.ai and Meta Llama Models</a:t>
            </a:r>
            <a:r>
              <a:rPr lang="en-US" b="1" i="1" dirty="0"/>
              <a: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26921892"/>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Mobile number</a:t>
                      </a:r>
                      <a:endParaRPr sz="1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[WhatsApp] </a:t>
                      </a:r>
                      <a:endParaRPr sz="18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Rohit Saini</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hlinkClick r:id="rId3"/>
                        </a:rPr>
                        <a:t>rohitsainirs007@gmail.com</a:t>
                      </a:r>
                      <a:r>
                        <a:rPr lang="en-US" sz="1400" u="none" strike="noStrike" cap="none" dirty="0"/>
                        <a:t> </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8000677205</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830956"/>
          </a:xfrm>
          <a:prstGeom prst="rect">
            <a:avLst/>
          </a:prstGeom>
          <a:noFill/>
          <a:ln>
            <a:noFill/>
          </a:ln>
        </p:spPr>
        <p:txBody>
          <a:bodyPr spcFirstLastPara="1" wrap="square" lIns="91425" tIns="45700" rIns="91425" bIns="45700" anchor="t" anchorCtr="0">
            <a:spAutoFit/>
          </a:bodyPr>
          <a:lstStyle/>
          <a:p>
            <a:r>
              <a:rPr lang="en-US" sz="2400" b="1" i="0" u="none" strike="noStrike" cap="none" dirty="0">
                <a:latin typeface="Arial"/>
                <a:ea typeface="Arial"/>
                <a:cs typeface="Arial"/>
                <a:sym typeface="Arial"/>
              </a:rPr>
              <a:t>Domain of  Project – </a:t>
            </a:r>
            <a:r>
              <a:rPr lang="it-IT" sz="2400" b="1" dirty="0"/>
              <a:t>E-Commerce &amp; Consumer Intelligence</a:t>
            </a:r>
          </a:p>
          <a:p>
            <a:pPr marL="0" marR="0" lvl="0" indent="0" algn="l" rtl="0">
              <a:lnSpc>
                <a:spcPct val="100000"/>
              </a:lnSpc>
              <a:spcBef>
                <a:spcPts val="0"/>
              </a:spcBef>
              <a:spcAft>
                <a:spcPts val="0"/>
              </a:spcAft>
              <a:buNone/>
            </a:pP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Title –</a:t>
            </a:r>
            <a:r>
              <a:rPr lang="en-US" sz="2400" b="1" dirty="0"/>
              <a:t> </a:t>
            </a:r>
            <a:r>
              <a:rPr lang="en-IN" sz="2400" b="1" dirty="0"/>
              <a:t>Intelligent Shopping Agent</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9AE4310A-EF26-F33C-7BFE-31A3D1EBB87C}"/>
              </a:ext>
            </a:extLst>
          </p:cNvPr>
          <p:cNvPicPr>
            <a:picLocks noChangeAspect="1"/>
          </p:cNvPicPr>
          <p:nvPr/>
        </p:nvPicPr>
        <p:blipFill>
          <a:blip r:embed="rId4"/>
          <a:stretch>
            <a:fillRect/>
          </a:stretch>
        </p:blipFill>
        <p:spPr>
          <a:xfrm>
            <a:off x="4217816" y="3747444"/>
            <a:ext cx="800670" cy="80181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6124713"/>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latin typeface="Arial"/>
                <a:ea typeface="Arial"/>
                <a:cs typeface="Arial"/>
                <a:sym typeface="Arial"/>
              </a:rPr>
              <a:t>Problem Statement :</a:t>
            </a:r>
            <a:r>
              <a:rPr lang="en-IN" b="1" dirty="0"/>
              <a:t>Intelligent Shopping Agent</a:t>
            </a:r>
            <a:endParaRPr sz="1400" b="1"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lang="en-US" sz="1400" b="1" i="0" u="none" strike="noStrike" cap="none" dirty="0">
              <a:latin typeface="Arial"/>
              <a:ea typeface="Arial"/>
              <a:cs typeface="Arial"/>
              <a:sym typeface="Arial"/>
            </a:endParaRPr>
          </a:p>
          <a:p>
            <a:r>
              <a:rPr lang="en-US" b="1" dirty="0"/>
              <a:t>The Challenge</a:t>
            </a:r>
            <a:endParaRPr lang="en-US" dirty="0"/>
          </a:p>
          <a:p>
            <a:pPr marL="285750" indent="-285750">
              <a:buFont typeface="Arial" panose="020B0604020202020204" pitchFamily="34" charset="0"/>
              <a:buChar char="•"/>
            </a:pPr>
            <a:r>
              <a:rPr lang="en-US" dirty="0"/>
              <a:t>Shoppers face massive choices and scattered pricing models across online sites.</a:t>
            </a:r>
          </a:p>
          <a:p>
            <a:pPr marL="285750" indent="-285750">
              <a:buFont typeface="Arial" panose="020B0604020202020204" pitchFamily="34" charset="0"/>
              <a:buChar char="•"/>
            </a:pPr>
            <a:r>
              <a:rPr lang="en-US" dirty="0"/>
              <a:t>Data remains highly scattered across isolated retail platforms like Amazon, eBay, and Walmart.</a:t>
            </a:r>
          </a:p>
          <a:p>
            <a:pPr marL="285750" indent="-285750">
              <a:buFont typeface="Arial" panose="020B0604020202020204" pitchFamily="34" charset="0"/>
              <a:buChar char="•"/>
            </a:pPr>
            <a:r>
              <a:rPr lang="en-US" dirty="0"/>
              <a:t>Deceptive automated fake bot reviews mislead consumers daily .</a:t>
            </a:r>
          </a:p>
          <a:p>
            <a:pPr marL="285750" indent="-285750">
              <a:buFont typeface="Arial" panose="020B0604020202020204" pitchFamily="34" charset="0"/>
              <a:buChar char="•"/>
            </a:pPr>
            <a:r>
              <a:rPr lang="en-US" dirty="0"/>
              <a:t>Buyers lack transparent tracking for marketplace price drops and eco-friendliness metrics.</a:t>
            </a: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285750" marR="0" lvl="0" indent="-285750" algn="l" rtl="0">
              <a:lnSpc>
                <a:spcPct val="100000"/>
              </a:lnSpc>
              <a:spcBef>
                <a:spcPts val="0"/>
              </a:spcBef>
              <a:spcAft>
                <a:spcPts val="0"/>
              </a:spcAft>
              <a:buFont typeface="Arial" panose="020B0604020202020204" pitchFamily="34" charset="0"/>
              <a:buChar char="•"/>
            </a:pPr>
            <a:r>
              <a:rPr lang="en-US" sz="1400" b="1" i="0" u="none" strike="noStrike" cap="none" dirty="0">
                <a:latin typeface="Arial"/>
                <a:ea typeface="Arial"/>
                <a:cs typeface="Arial"/>
                <a:sym typeface="Arial"/>
              </a:rPr>
              <a:t>The Objective</a:t>
            </a:r>
            <a:r>
              <a:rPr lang="en-US" sz="1400" b="0" i="0" u="none" strike="noStrike" cap="none" dirty="0">
                <a:latin typeface="Arial"/>
                <a:ea typeface="Arial"/>
                <a:cs typeface="Arial"/>
                <a:sym typeface="Arial"/>
              </a:rPr>
              <a:t> </a:t>
            </a:r>
            <a:endParaRPr dirty="0"/>
          </a:p>
          <a:p>
            <a:pPr marL="285750" indent="-285750">
              <a:buFont typeface="Arial" panose="020B0604020202020204" pitchFamily="34" charset="0"/>
              <a:buChar char="•"/>
            </a:pPr>
            <a:r>
              <a:rPr lang="en-IN" dirty="0"/>
              <a:t>Build an </a:t>
            </a:r>
            <a:r>
              <a:rPr lang="en-IN" b="1" dirty="0"/>
              <a:t>AI-powered Intelligent Shopping Agent </a:t>
            </a:r>
            <a:r>
              <a:rPr lang="en-IN" dirty="0"/>
              <a:t>that delivers real-time consumer insights, multi-merchant analytics, and high-integrity purchasing guidance. The solution should feature:</a:t>
            </a:r>
          </a:p>
          <a:p>
            <a:pPr marL="285750" indent="-285750">
              <a:buFont typeface="Arial" panose="020B0604020202020204" pitchFamily="34" charset="0"/>
              <a:buChar char="•"/>
            </a:pPr>
            <a:r>
              <a:rPr lang="en-IN" b="1" dirty="0"/>
              <a:t>Marketplace Price RAG &amp; Data Fusion</a:t>
            </a:r>
            <a:r>
              <a:rPr lang="en-IN" dirty="0"/>
              <a:t> – Aggregate, normalize, and compare live product price matrices from Amazon, eBay, and Walmart into a unified side-by-side view [11.1].</a:t>
            </a:r>
          </a:p>
          <a:p>
            <a:pPr marL="285750" indent="-285750">
              <a:buFont typeface="Arial" panose="020B0604020202020204" pitchFamily="34" charset="0"/>
              <a:buChar char="•"/>
            </a:pPr>
            <a:r>
              <a:rPr lang="en-IN" b="1" dirty="0"/>
              <a:t>Review Integrity &amp; Fraud Detection</a:t>
            </a:r>
            <a:r>
              <a:rPr lang="en-IN" dirty="0"/>
              <a:t> – Run localized Python regex token scans to count word-frequency repetitions, uncovering automated bot review networks instantly [11.3].</a:t>
            </a:r>
          </a:p>
          <a:p>
            <a:pPr marL="285750" indent="-285750">
              <a:buFont typeface="Arial" panose="020B0604020202020204" pitchFamily="34" charset="0"/>
              <a:buChar char="•"/>
            </a:pPr>
            <a:r>
              <a:rPr lang="en-IN" b="1" dirty="0"/>
              <a:t>Statistical Market Forecasting</a:t>
            </a:r>
            <a:r>
              <a:rPr lang="en-IN" dirty="0"/>
              <a:t> – Deploy automated standard deviation models over retail pricing ranges to predict market volatility and output data-driven timing markers (</a:t>
            </a:r>
            <a:r>
              <a:rPr lang="en-IN" b="1" dirty="0"/>
              <a:t>Buy Now</a:t>
            </a:r>
            <a:r>
              <a:rPr lang="en-IN" dirty="0"/>
              <a:t> vs. </a:t>
            </a:r>
            <a:r>
              <a:rPr lang="en-IN" b="1" dirty="0"/>
              <a:t>Wait</a:t>
            </a:r>
            <a:r>
              <a:rPr lang="en-IN" dirty="0"/>
              <a:t>) </a:t>
            </a:r>
          </a:p>
          <a:p>
            <a:pPr marL="285750" indent="-285750">
              <a:buFont typeface="Arial" panose="020B0604020202020204" pitchFamily="34" charset="0"/>
              <a:buChar char="•"/>
            </a:pPr>
            <a:r>
              <a:rPr lang="en-IN" b="1" dirty="0"/>
              <a:t>Eco-Footprint Tracking</a:t>
            </a:r>
            <a:r>
              <a:rPr lang="en-IN" dirty="0"/>
              <a:t> – Calculate a transparent product sustainability score (0-10) based on fabric compositions and resource materials to empower green purchasing decisions.</a:t>
            </a:r>
          </a:p>
          <a:p>
            <a:pPr marL="285750" indent="-285750">
              <a:buFont typeface="Arial" panose="020B0604020202020204" pitchFamily="34" charset="0"/>
              <a:buChar char="•"/>
            </a:pPr>
            <a:r>
              <a:rPr lang="en-IN" b="1" dirty="0"/>
              <a:t>Multi-Agent System Architecture</a:t>
            </a:r>
            <a:r>
              <a:rPr lang="en-IN" dirty="0"/>
              <a:t> –</a:t>
            </a:r>
          </a:p>
          <a:p>
            <a:pPr lvl="2"/>
            <a:r>
              <a:rPr lang="en-IN" b="1" dirty="0"/>
              <a:t>                               1. Marketplace Ingestion Agent</a:t>
            </a:r>
            <a:r>
              <a:rPr lang="en-IN" dirty="0"/>
              <a:t> (fetches and cross-references multi-retailer inventory tables) </a:t>
            </a:r>
          </a:p>
          <a:p>
            <a:pPr lvl="2"/>
            <a:r>
              <a:rPr lang="en-IN" b="1" dirty="0"/>
              <a:t>      	             2.Algorithmic Security Agent</a:t>
            </a:r>
            <a:r>
              <a:rPr lang="en-IN" dirty="0"/>
              <a:t> (isolates bot review footprints and calculates sentiment reliability scores)</a:t>
            </a:r>
          </a:p>
          <a:p>
            <a:pPr lvl="2"/>
            <a:r>
              <a:rPr lang="en-IN" b="1" dirty="0"/>
              <a:t>                                3.Market Volatility Agent</a:t>
            </a:r>
            <a:r>
              <a:rPr lang="en-IN" dirty="0"/>
              <a:t> (</a:t>
            </a:r>
            <a:r>
              <a:rPr lang="en-IN" dirty="0" err="1"/>
              <a:t>analyzes</a:t>
            </a:r>
            <a:r>
              <a:rPr lang="en-IN" dirty="0"/>
              <a:t> price deviations to determine optimal consumer buy windows) </a:t>
            </a:r>
          </a:p>
          <a:p>
            <a:pPr lvl="2"/>
            <a:r>
              <a:rPr lang="en-IN" b="1" dirty="0"/>
              <a:t>                                4.Cognitive Strategy Agent</a:t>
            </a:r>
            <a:r>
              <a:rPr lang="en-IN" dirty="0"/>
              <a:t> (utilizes </a:t>
            </a:r>
            <a:r>
              <a:rPr lang="en-IN" b="1" dirty="0"/>
              <a:t>Meta Llama-3.3-70b-instruct</a:t>
            </a:r>
            <a:r>
              <a:rPr lang="en-IN" dirty="0"/>
              <a:t> via </a:t>
            </a:r>
            <a:r>
              <a:rPr lang="en-IN" b="1" dirty="0"/>
              <a:t>watsonx.ai</a:t>
            </a:r>
            <a:r>
              <a:rPr lang="en-IN" dirty="0"/>
              <a:t> to synthesize advice strings) </a:t>
            </a:r>
          </a:p>
          <a:p>
            <a:pPr lvl="2"/>
            <a:r>
              <a:rPr lang="en-IN" b="1" dirty="0"/>
              <a:t>                                5.Visual Interface Dashboard</a:t>
            </a:r>
            <a:r>
              <a:rPr lang="en-IN" dirty="0"/>
              <a:t> (renders responsive metric cards, progress bars, and checklists via </a:t>
            </a:r>
            <a:r>
              <a:rPr lang="en-IN" dirty="0" err="1"/>
              <a:t>Streamlit</a:t>
            </a:r>
            <a:r>
              <a:rPr lang="en-IN" dirty="0"/>
              <a:t>) </a:t>
            </a:r>
          </a:p>
          <a:p>
            <a:pPr lvl="1"/>
            <a:endParaRPr lang="en-IN"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p:txBody>
      </p:sp>
      <p:sp>
        <p:nvSpPr>
          <p:cNvPr id="96" name="Google Shape;96;p34"/>
          <p:cNvSpPr txBox="1"/>
          <p:nvPr/>
        </p:nvSpPr>
        <p:spPr>
          <a:xfrm>
            <a:off x="576072" y="704088"/>
            <a:ext cx="7214616" cy="461624"/>
          </a:xfrm>
          <a:prstGeom prst="rect">
            <a:avLst/>
          </a:prstGeom>
          <a:noFill/>
          <a:ln>
            <a:noFill/>
          </a:ln>
        </p:spPr>
        <p:txBody>
          <a:bodyPr spcFirstLastPara="1" wrap="square" lIns="91425" tIns="45700" rIns="91425" bIns="45700" anchor="t" anchorCtr="0">
            <a:spAutoFit/>
          </a:bodyPr>
          <a:lstStyle/>
          <a:p>
            <a:r>
              <a:rPr lang="en-IN" sz="2400" b="1" dirty="0"/>
              <a:t>Problem Statement &amp; Project Objectives-</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9092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latin typeface="Arial"/>
              <a:ea typeface="Arial"/>
              <a:cs typeface="Arial"/>
              <a:sym typeface="Arial"/>
            </a:endParaRPr>
          </a:p>
          <a:p>
            <a:r>
              <a:rPr lang="en-US" dirty="0"/>
              <a:t>The proposed solution is a multi-agent Intelligent Shopping Companion built using </a:t>
            </a:r>
            <a:r>
              <a:rPr lang="en-US" dirty="0" err="1"/>
              <a:t>Streamlit</a:t>
            </a:r>
            <a:r>
              <a:rPr lang="en-US" dirty="0"/>
              <a:t>, IBM watsonx.ai, and Meta Llama Models to provide real-time consumer guidance, market pricing synthesis, and e-commerce threat filtering. The system addresses challenges in multi-retailer inventory fragmentation, review manipulation, and dynamic market volatility through an intelligent, modular architecture.</a:t>
            </a:r>
          </a:p>
          <a:p>
            <a:r>
              <a:rPr lang="en-US" dirty="0"/>
              <a:t>At its core, the solution implements a unified Data Fusion and Retrieval pipeline to ingest and normalize live product prices, customer feedback matrices, and material criteria from isolated platforms including Amazon, eBay, and Walmart. This structured payload is evaluated locally and passed to cloud foundation models to synthesize comprehensive buying reports.</a:t>
            </a:r>
          </a:p>
          <a:p>
            <a:r>
              <a:rPr lang="en-US" dirty="0"/>
              <a:t>The system consists of five key structural agent nodes:</a:t>
            </a:r>
          </a:p>
          <a:p>
            <a:r>
              <a:rPr lang="en-US" b="1" dirty="0"/>
              <a:t>Marketplace Ingestion Agent:</a:t>
            </a:r>
            <a:r>
              <a:rPr lang="en-US" dirty="0"/>
              <a:t> Fetches, parses, and normalizes disparate cross-retailer inventory fields into a unified side-by-side matrix view.</a:t>
            </a:r>
          </a:p>
          <a:p>
            <a:r>
              <a:rPr lang="en-US" b="1" dirty="0"/>
              <a:t>Algorithmic Security Agent:</a:t>
            </a:r>
            <a:r>
              <a:rPr lang="en-US" dirty="0"/>
              <a:t> Executes localized low-latency Python regex scans to detect character word-frequency repetitions, instantly exposing automated fake bot review networks.</a:t>
            </a:r>
          </a:p>
          <a:p>
            <a:r>
              <a:rPr lang="en-US" b="1" dirty="0"/>
              <a:t>Market Volatility Agent:</a:t>
            </a:r>
            <a:r>
              <a:rPr lang="en-US" dirty="0"/>
              <a:t> Applies automated statistical standard deviation math over cross-platform price ranges to compute dynamic buying velocity markers (</a:t>
            </a:r>
            <a:r>
              <a:rPr lang="en-US" b="1" dirty="0"/>
              <a:t>Buy Now</a:t>
            </a:r>
            <a:r>
              <a:rPr lang="en-US" dirty="0"/>
              <a:t> vs. </a:t>
            </a:r>
            <a:r>
              <a:rPr lang="en-US" b="1" dirty="0"/>
              <a:t>Wait</a:t>
            </a:r>
            <a:r>
              <a:rPr lang="en-US" dirty="0"/>
              <a:t>).</a:t>
            </a:r>
          </a:p>
          <a:p>
            <a:r>
              <a:rPr lang="en-US" b="1" dirty="0"/>
              <a:t>Cognitive Strategy Agent:</a:t>
            </a:r>
            <a:r>
              <a:rPr lang="en-US" dirty="0"/>
              <a:t> Securely routes prompt vectors through the enterprise </a:t>
            </a:r>
            <a:r>
              <a:rPr lang="en-US" b="1" dirty="0"/>
              <a:t>Meta Llama-3.3-70b-instruct model</a:t>
            </a:r>
            <a:r>
              <a:rPr lang="en-US" dirty="0"/>
              <a:t> via authenticated </a:t>
            </a:r>
            <a:r>
              <a:rPr lang="en-US" b="1" dirty="0"/>
              <a:t>watsonx.ai Studio</a:t>
            </a:r>
            <a:r>
              <a:rPr lang="en-US" dirty="0"/>
              <a:t> nodes to synthesize multi-merchant data into precise consumer advisory text.</a:t>
            </a:r>
          </a:p>
          <a:p>
            <a:r>
              <a:rPr lang="en-US" b="1" dirty="0"/>
              <a:t>Visual Interface Dashboard:</a:t>
            </a:r>
            <a:r>
              <a:rPr lang="en-US" dirty="0"/>
              <a:t> Renders responsive data cards, interactive checklists, eco-score gauges, and real-time alerts built completely using a unified </a:t>
            </a:r>
            <a:r>
              <a:rPr lang="en-US" dirty="0" err="1"/>
              <a:t>Streamlit</a:t>
            </a:r>
            <a:r>
              <a:rPr lang="en-US" dirty="0"/>
              <a:t> runtime framework.</a:t>
            </a:r>
          </a:p>
          <a:p>
            <a:r>
              <a:rPr lang="en-US" dirty="0"/>
              <a:t>IBM watsonx.ai ensures scalable model deployment, secure IAM gateway credential isolation, and enterprise-grade AI governance, while Llama models handle deep contextual synthesis, semantic summarization, and strategic recommendations. Overall, this solution delivers an end-to-end intelligent consumer assistant that protects buyers from marketplace fraud and promotes cost-optimized, eco-friendly shopping.</a:t>
            </a:r>
          </a:p>
          <a:p>
            <a:br>
              <a:rPr lang="en-US" dirty="0"/>
            </a:br>
            <a:endParaRPr lang="en-US" dirty="0"/>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p:txBody>
      </p:sp>
      <p:sp>
        <p:nvSpPr>
          <p:cNvPr id="102" name="Google Shape;102;p35"/>
          <p:cNvSpPr txBox="1"/>
          <p:nvPr/>
        </p:nvSpPr>
        <p:spPr>
          <a:xfrm>
            <a:off x="454885"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latin typeface="Arial"/>
                <a:ea typeface="Arial"/>
                <a:cs typeface="Arial"/>
                <a:sym typeface="Arial"/>
              </a:rPr>
              <a:t>Proposed Solution -</a:t>
            </a:r>
            <a:endParaRPr sz="2400" b="1" i="0" u="none" strike="noStrike" cap="none" dirty="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latin typeface="Arial"/>
                <a:ea typeface="Arial"/>
                <a:cs typeface="Arial"/>
                <a:sym typeface="Arial"/>
              </a:rPr>
              <a:t>Technology Used</a:t>
            </a:r>
            <a:endParaRPr sz="2400" b="1" i="0" u="none" strike="noStrike" cap="none">
              <a:latin typeface="Arial"/>
              <a:ea typeface="Arial"/>
              <a:cs typeface="Arial"/>
              <a:sym typeface="Arial"/>
            </a:endParaRPr>
          </a:p>
        </p:txBody>
      </p:sp>
      <p:sp>
        <p:nvSpPr>
          <p:cNvPr id="108" name="Google Shape;108;p36"/>
          <p:cNvSpPr txBox="1"/>
          <p:nvPr/>
        </p:nvSpPr>
        <p:spPr>
          <a:xfrm>
            <a:off x="777240" y="1207008"/>
            <a:ext cx="10515600" cy="4801274"/>
          </a:xfrm>
          <a:prstGeom prst="rect">
            <a:avLst/>
          </a:prstGeom>
          <a:noFill/>
          <a:ln>
            <a:noFill/>
          </a:ln>
        </p:spPr>
        <p:txBody>
          <a:bodyPr spcFirstLastPara="1" wrap="square" lIns="91425" tIns="45700" rIns="91425" bIns="45700" anchor="t" anchorCtr="0">
            <a:spAutoFit/>
          </a:bodyPr>
          <a:lstStyle/>
          <a:p>
            <a:r>
              <a:rPr lang="en-IN" sz="1800" b="1" dirty="0" err="1"/>
              <a:t>Streamlit</a:t>
            </a:r>
            <a:r>
              <a:rPr lang="en-IN" sz="1800" b="1" dirty="0"/>
              <a:t> Framework</a:t>
            </a:r>
            <a:r>
              <a:rPr lang="en-IN" sz="1800" dirty="0"/>
              <a:t> - For designing and rendering the interactive user interface, dynamic metric cards, and data dashboards visually.</a:t>
            </a:r>
          </a:p>
          <a:p>
            <a:endParaRPr lang="en-IN" sz="1800" dirty="0"/>
          </a:p>
          <a:p>
            <a:r>
              <a:rPr lang="en-IN" sz="1800" b="1" dirty="0"/>
              <a:t>Meta Llama Model (meta-llama/llama-3-3-70b-instruct)</a:t>
            </a:r>
            <a:r>
              <a:rPr lang="en-IN" sz="1800" dirty="0"/>
              <a:t> - For natural language understanding, multi-merchant data synthesis, and strategic purchasing recommendations.</a:t>
            </a:r>
          </a:p>
          <a:p>
            <a:endParaRPr lang="en-IN" sz="1800" dirty="0"/>
          </a:p>
          <a:p>
            <a:r>
              <a:rPr lang="en-IN" sz="1800" b="1" dirty="0"/>
              <a:t>IBM Cloud Infrastructure</a:t>
            </a:r>
            <a:r>
              <a:rPr lang="en-IN" sz="1800" dirty="0"/>
              <a:t> - It provides the secure, reliable environment and cloud hosting backbone to manage and scale the environment efficiently.</a:t>
            </a:r>
          </a:p>
          <a:p>
            <a:endParaRPr lang="en-IN" sz="1800" dirty="0"/>
          </a:p>
          <a:p>
            <a:r>
              <a:rPr lang="en-IN" sz="1800" b="1" dirty="0"/>
              <a:t>IBM watsonx.ai Studio</a:t>
            </a:r>
            <a:r>
              <a:rPr lang="en-IN" sz="1800" dirty="0"/>
              <a:t> - For remote foundation model deployment, configuration, API orchestration, and enterprise AI tracking governance (Project ID: de474e88-6096-4866-9c27-4a70e0be2555).</a:t>
            </a:r>
          </a:p>
          <a:p>
            <a:endParaRPr lang="en-IN" sz="1800" dirty="0"/>
          </a:p>
          <a:p>
            <a:r>
              <a:rPr lang="en-IN" sz="1800" b="1" dirty="0"/>
              <a:t>Native Python Layer</a:t>
            </a:r>
            <a:r>
              <a:rPr lang="en-IN" sz="1800" dirty="0"/>
              <a:t> - Built-in computational scripts running regex loops for fake review detection and standard deviation math for price volatility forecasting.</a:t>
            </a:r>
          </a:p>
          <a:p>
            <a:endParaRPr lang="en-IN" sz="1800" dirty="0"/>
          </a:p>
          <a:p>
            <a:r>
              <a:rPr lang="en-IN" sz="1800" b="1" dirty="0"/>
              <a:t>Environment Decoupling (python-</a:t>
            </a:r>
            <a:r>
              <a:rPr lang="en-IN" sz="1800" b="1" dirty="0" err="1"/>
              <a:t>dotenv</a:t>
            </a:r>
            <a:r>
              <a:rPr lang="en-IN" sz="1800" b="1" dirty="0"/>
              <a:t>)</a:t>
            </a:r>
            <a:r>
              <a:rPr lang="en-IN" sz="1800" dirty="0"/>
              <a:t> - For securely encapsulating and isolating sensitive API credentials outside the raw source code scripts.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a:t>Application Components Used </a:t>
            </a:r>
            <a:r>
              <a:rPr lang="en-US" sz="2400" b="1" i="0" u="none" strike="noStrike" cap="none" dirty="0">
                <a:latin typeface="Arial"/>
                <a:ea typeface="Arial"/>
                <a:cs typeface="Arial"/>
                <a:sym typeface="Arial"/>
              </a:rPr>
              <a:t>-</a:t>
            </a:r>
            <a:endParaRPr sz="2400" b="1" i="0" u="none" strike="noStrike" cap="none" dirty="0">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20" name="Google Shape;120;p37"/>
          <p:cNvSpPr txBox="1"/>
          <p:nvPr/>
        </p:nvSpPr>
        <p:spPr>
          <a:xfrm>
            <a:off x="474822" y="863187"/>
            <a:ext cx="8823960" cy="59092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r>
              <a:rPr lang="en-IN" b="1" dirty="0"/>
              <a:t>1) Sidebar Multi-Format Control Input</a:t>
            </a:r>
            <a:r>
              <a:rPr lang="en-IN" dirty="0"/>
              <a:t> – Renders the primary user interface workspace layout for entering search query strings or dragging and dropping multimodal visual product files seamlessly.</a:t>
            </a:r>
          </a:p>
          <a:p>
            <a:endParaRPr lang="en-IN" b="1" dirty="0"/>
          </a:p>
          <a:p>
            <a:r>
              <a:rPr lang="en-IN" b="1" dirty="0"/>
              <a:t>2) IBM </a:t>
            </a:r>
            <a:r>
              <a:rPr lang="en-IN" b="1" dirty="0" err="1"/>
              <a:t>watsonx</a:t>
            </a:r>
            <a:r>
              <a:rPr lang="en-IN" b="1" dirty="0"/>
              <a:t> AI SDK Inference Engine</a:t>
            </a:r>
            <a:r>
              <a:rPr lang="en-IN" dirty="0"/>
              <a:t> – Authenticates connections natively over cloud gateways to establish runtime memory blocks, executing prompt vector handshakes inside memory.</a:t>
            </a:r>
          </a:p>
          <a:p>
            <a:endParaRPr lang="en-IN" b="1" dirty="0"/>
          </a:p>
          <a:p>
            <a:r>
              <a:rPr lang="en-IN" b="1" dirty="0"/>
              <a:t>3) Name of IBM </a:t>
            </a:r>
            <a:r>
              <a:rPr lang="en-IN" b="1" dirty="0" err="1"/>
              <a:t>Watsonx</a:t>
            </a:r>
            <a:r>
              <a:rPr lang="en-IN" b="1" dirty="0"/>
              <a:t> Foundation Model</a:t>
            </a:r>
            <a:r>
              <a:rPr lang="en-IN" dirty="0"/>
              <a:t> – meta-llama/llama-3-3-70b-instruct     Enterprise reasoning model for contextual multi-merchant pricing synthesis, buyer evaluation strategy, and raw text extraction.</a:t>
            </a:r>
          </a:p>
          <a:p>
            <a:endParaRPr lang="en-IN" dirty="0"/>
          </a:p>
          <a:p>
            <a:r>
              <a:rPr lang="en-IN" b="1" dirty="0"/>
              <a:t>4) Live Metric Visual Display Output</a:t>
            </a:r>
            <a:r>
              <a:rPr lang="en-IN" dirty="0"/>
              <a:t> – Renders color-coded, reactive data scorecard containers for Product Rating gauges, Review Integrity flags, and dynamic Purchase Timing status windows.</a:t>
            </a:r>
          </a:p>
          <a:p>
            <a:endParaRPr lang="en-IN" b="1" dirty="0"/>
          </a:p>
          <a:p>
            <a:r>
              <a:rPr lang="en-IN" b="1" dirty="0"/>
              <a:t>5) Multi-Merchant Data Fusion Grid</a:t>
            </a:r>
            <a:r>
              <a:rPr lang="en-IN" dirty="0"/>
              <a:t> – Aggregates and normalizes tabular pricing entries side-by-side from Amazon, eBay, and Walmart channels inside a unified dashboard element.</a:t>
            </a:r>
          </a:p>
          <a:p>
            <a:endParaRPr lang="en-IN" b="1" dirty="0"/>
          </a:p>
          <a:p>
            <a:r>
              <a:rPr lang="en-IN" b="1" dirty="0"/>
              <a:t>6) Local Algorithmic Threat Analysis Script</a:t>
            </a:r>
            <a:r>
              <a:rPr lang="en-IN" dirty="0"/>
              <a:t> – Executes localized custom character regex frequency checks to catch automated bot repetition patterns alongside standard deviation calculations.</a:t>
            </a: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latin typeface="Arial"/>
                <a:ea typeface="Arial"/>
                <a:cs typeface="Arial"/>
                <a:sym typeface="Arial"/>
              </a:rPr>
              <a:t> </a:t>
            </a:r>
            <a:endParaRPr sz="1400" b="0" i="0" u="none" strike="noStrike" cap="none" dirty="0">
              <a:latin typeface="Arial"/>
              <a:ea typeface="Arial"/>
              <a:cs typeface="Arial"/>
              <a:sym typeface="Arial"/>
            </a:endParaRPr>
          </a:p>
        </p:txBody>
      </p:sp>
      <p:cxnSp>
        <p:nvCxnSpPr>
          <p:cNvPr id="3" name="Straight Arrow Connector 2">
            <a:extLst>
              <a:ext uri="{FF2B5EF4-FFF2-40B4-BE49-F238E27FC236}">
                <a16:creationId xmlns:a16="http://schemas.microsoft.com/office/drawing/2014/main" id="{1967EBC9-9ACD-5D74-C3E1-7D799759D8D5}"/>
              </a:ext>
            </a:extLst>
          </p:cNvPr>
          <p:cNvCxnSpPr>
            <a:cxnSpLocks/>
          </p:cNvCxnSpPr>
          <p:nvPr/>
        </p:nvCxnSpPr>
        <p:spPr>
          <a:xfrm>
            <a:off x="7105880" y="2511846"/>
            <a:ext cx="1762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6865745"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a:t>System Architecture &amp; Data Flow Diagram-</a:t>
            </a:r>
            <a:endParaRPr sz="2400" b="1" i="0" u="none" strike="noStrike" cap="none" dirty="0">
              <a:latin typeface="Arial"/>
              <a:ea typeface="Arial"/>
              <a:cs typeface="Arial"/>
              <a:sym typeface="Arial"/>
            </a:endParaRPr>
          </a:p>
        </p:txBody>
      </p:sp>
      <p:sp>
        <p:nvSpPr>
          <p:cNvPr id="2" name="TextBox 1">
            <a:extLst>
              <a:ext uri="{FF2B5EF4-FFF2-40B4-BE49-F238E27FC236}">
                <a16:creationId xmlns:a16="http://schemas.microsoft.com/office/drawing/2014/main" id="{B3019DC0-BBB0-70EC-3829-779E24BA7277}"/>
              </a:ext>
            </a:extLst>
          </p:cNvPr>
          <p:cNvSpPr txBox="1"/>
          <p:nvPr/>
        </p:nvSpPr>
        <p:spPr>
          <a:xfrm>
            <a:off x="537590" y="1013552"/>
            <a:ext cx="11283509" cy="5478423"/>
          </a:xfrm>
          <a:prstGeom prst="rect">
            <a:avLst/>
          </a:prstGeom>
          <a:noFill/>
        </p:spPr>
        <p:txBody>
          <a:bodyPr wrap="square" rtlCol="0">
            <a:spAutoFit/>
          </a:bodyPr>
          <a:lstStyle/>
          <a:p>
            <a:r>
              <a:rPr lang="en-IN" b="1" dirty="0"/>
              <a:t>[USER INTERFACE]</a:t>
            </a:r>
            <a:r>
              <a:rPr lang="en-IN" dirty="0"/>
              <a:t> ➡ </a:t>
            </a:r>
            <a:r>
              <a:rPr lang="en-IN" dirty="0" err="1"/>
              <a:t>Streamlit</a:t>
            </a:r>
            <a:r>
              <a:rPr lang="en-IN" dirty="0"/>
              <a:t> Multi-Format Dashboard Sidebar</a:t>
            </a:r>
          </a:p>
          <a:p>
            <a:pPr lvl="1"/>
            <a:r>
              <a:rPr lang="en-IN" dirty="0"/>
              <a:t>                                         </a:t>
            </a:r>
          </a:p>
          <a:p>
            <a:pPr lvl="1"/>
            <a:r>
              <a:rPr lang="en-IN" dirty="0"/>
              <a:t>                                          ⬇ </a:t>
            </a:r>
            <a:r>
              <a:rPr lang="en-IN" i="1" dirty="0"/>
              <a:t>(Passes User Query String / Image Bytes)</a:t>
            </a:r>
            <a:endParaRPr lang="en-IN" dirty="0"/>
          </a:p>
          <a:p>
            <a:endParaRPr lang="en-IN" b="1" dirty="0"/>
          </a:p>
          <a:p>
            <a:r>
              <a:rPr lang="en-IN" b="1" dirty="0"/>
              <a:t>[LOCAL CORE MATH]</a:t>
            </a:r>
            <a:r>
              <a:rPr lang="en-IN" dirty="0"/>
              <a:t> ➡ Local Heuristic Verification Scripts</a:t>
            </a:r>
          </a:p>
          <a:p>
            <a:pPr lvl="1"/>
            <a:r>
              <a:rPr lang="en-IN" dirty="0"/>
              <a:t>                  ├─ 🛡️ </a:t>
            </a:r>
            <a:r>
              <a:rPr lang="en-IN" b="1" dirty="0"/>
              <a:t>Bot Footprint Interceptor</a:t>
            </a:r>
            <a:r>
              <a:rPr lang="en-IN" dirty="0"/>
              <a:t> (Regex Repetition Check)</a:t>
            </a:r>
          </a:p>
          <a:p>
            <a:pPr lvl="1"/>
            <a:r>
              <a:rPr lang="en-IN" dirty="0"/>
              <a:t>                  └─ 📉 </a:t>
            </a:r>
            <a:r>
              <a:rPr lang="en-IN" b="1" dirty="0"/>
              <a:t>Volatility Engine</a:t>
            </a:r>
            <a:r>
              <a:rPr lang="en-IN" dirty="0"/>
              <a:t> (Standard Deviation Price Math)</a:t>
            </a:r>
          </a:p>
          <a:p>
            <a:pPr lvl="1"/>
            <a:r>
              <a:rPr lang="en-IN" dirty="0"/>
              <a:t>          </a:t>
            </a:r>
          </a:p>
          <a:p>
            <a:pPr lvl="1"/>
            <a:r>
              <a:rPr lang="en-IN" dirty="0"/>
              <a:t>                                           ⬇ </a:t>
            </a:r>
            <a:r>
              <a:rPr lang="en-IN" i="1" dirty="0"/>
              <a:t>(Formulates Normalized System JSON Payload Matrix)</a:t>
            </a:r>
            <a:endParaRPr lang="en-IN" dirty="0"/>
          </a:p>
          <a:p>
            <a:endParaRPr lang="en-IN" b="1" dirty="0"/>
          </a:p>
          <a:p>
            <a:r>
              <a:rPr lang="en-IN" b="1" dirty="0"/>
              <a:t>[SECURE HOSTING]</a:t>
            </a:r>
            <a:r>
              <a:rPr lang="en-IN" dirty="0"/>
              <a:t> ➡ Cloud Environment Token &amp; Credential Decoupling (.env)</a:t>
            </a:r>
          </a:p>
          <a:p>
            <a:pPr lvl="1"/>
            <a:r>
              <a:rPr lang="en-IN" dirty="0"/>
              <a:t>                                          </a:t>
            </a:r>
          </a:p>
          <a:p>
            <a:pPr lvl="1"/>
            <a:r>
              <a:rPr lang="en-IN" dirty="0"/>
              <a:t>                                            ⬇ </a:t>
            </a:r>
            <a:r>
              <a:rPr lang="en-IN" i="1" dirty="0"/>
              <a:t>(Executes Secure Gateway IAM Handshake Over Web Session)</a:t>
            </a:r>
            <a:endParaRPr lang="en-IN" dirty="0"/>
          </a:p>
          <a:p>
            <a:endParaRPr lang="en-IN" b="1" dirty="0"/>
          </a:p>
          <a:p>
            <a:r>
              <a:rPr lang="en-IN" b="1" dirty="0"/>
              <a:t>[COGNITIVE LLM]</a:t>
            </a:r>
            <a:r>
              <a:rPr lang="en-IN" dirty="0"/>
              <a:t> ➡ IBM watsonx.ai Studio Framework Core</a:t>
            </a:r>
          </a:p>
          <a:p>
            <a:pPr lvl="1"/>
            <a:r>
              <a:rPr lang="en-IN" dirty="0"/>
              <a:t>                   └─ 🧠 </a:t>
            </a:r>
            <a:r>
              <a:rPr lang="en-IN" b="1" dirty="0"/>
              <a:t>Inference Model Engine:</a:t>
            </a:r>
            <a:r>
              <a:rPr lang="en-IN" dirty="0"/>
              <a:t> meta-llama/llama-3-3-70b-instruct</a:t>
            </a:r>
          </a:p>
          <a:p>
            <a:pPr lvl="1"/>
            <a:endParaRPr lang="en-IN" dirty="0"/>
          </a:p>
          <a:p>
            <a:pPr lvl="1"/>
            <a:r>
              <a:rPr lang="en-IN" dirty="0"/>
              <a:t>                                             ⬇ </a:t>
            </a:r>
            <a:r>
              <a:rPr lang="en-IN" i="1" dirty="0"/>
              <a:t>(Synthesizes Comprehensive Consumer Buying Strategy)</a:t>
            </a:r>
            <a:endParaRPr lang="en-IN" dirty="0"/>
          </a:p>
          <a:p>
            <a:endParaRPr lang="en-IN" b="1" dirty="0"/>
          </a:p>
          <a:p>
            <a:r>
              <a:rPr lang="en-IN" b="1" dirty="0"/>
              <a:t>[INTERFACE FEED]</a:t>
            </a:r>
            <a:r>
              <a:rPr lang="en-IN" dirty="0"/>
              <a:t> ➡ Dynamic Output Generation Box</a:t>
            </a:r>
          </a:p>
          <a:p>
            <a:pPr lvl="1"/>
            <a:r>
              <a:rPr lang="en-IN" dirty="0"/>
              <a:t>	├─ 🎨 </a:t>
            </a:r>
            <a:r>
              <a:rPr lang="en-IN" b="1" dirty="0"/>
              <a:t>Color-Coded Metric Cards</a:t>
            </a:r>
            <a:r>
              <a:rPr lang="en-IN" dirty="0"/>
              <a:t> (Rating, Volatility, Eco)</a:t>
            </a:r>
          </a:p>
          <a:p>
            <a:pPr lvl="1"/>
            <a:r>
              <a:rPr lang="en-IN" dirty="0"/>
              <a:t>	├─ 📊 </a:t>
            </a:r>
            <a:r>
              <a:rPr lang="en-IN" b="1" dirty="0"/>
              <a:t>Side-by-Side Multi-Merchant Aggregation Grid</a:t>
            </a:r>
            <a:endParaRPr lang="en-IN" dirty="0"/>
          </a:p>
          <a:p>
            <a:pPr lvl="1"/>
            <a:r>
              <a:rPr lang="en-IN" dirty="0"/>
              <a:t>	└─ 📝 </a:t>
            </a:r>
            <a:r>
              <a:rPr lang="en-IN" b="1" dirty="0"/>
              <a:t>Actionable 3-Sentence Strategic Buyer Advice Box</a:t>
            </a:r>
            <a:endParaRPr lang="en-IN" dirty="0"/>
          </a:p>
          <a:p>
            <a:br>
              <a:rPr lang="en-IN" dirty="0"/>
            </a:br>
            <a:r>
              <a:rPr lang="en-IN"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tx1"/>
                </a:solidFill>
                <a:latin typeface="Calibri"/>
                <a:ea typeface="Calibri"/>
                <a:cs typeface="Calibri"/>
                <a:sym typeface="Calibri"/>
              </a:rPr>
              <a:t>Architecture blueprint</a:t>
            </a:r>
            <a:endParaRPr sz="2400" b="0" i="0" u="none" strike="noStrike" cap="none">
              <a:solidFill>
                <a:schemeClr val="tx1"/>
              </a:solidFill>
              <a:latin typeface="Arial"/>
              <a:ea typeface="Arial"/>
              <a:cs typeface="Arial"/>
              <a:sym typeface="Arial"/>
            </a:endParaRPr>
          </a:p>
        </p:txBody>
      </p:sp>
      <p:pic>
        <p:nvPicPr>
          <p:cNvPr id="132" name="Google Shape;132;p7"/>
          <p:cNvPicPr preferRelativeResize="0"/>
          <p:nvPr/>
        </p:nvPicPr>
        <p:blipFill>
          <a:blip r:embed="rId3">
            <a:alphaModFix/>
          </a:blip>
          <a:srcRect t="1619" b="7064"/>
          <a:stretch>
            <a:fillRect/>
          </a:stretch>
        </p:blipFill>
        <p:spPr>
          <a:xfrm>
            <a:off x="536829" y="771747"/>
            <a:ext cx="11468100" cy="602766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4FED562-40B5-9D04-3A35-12D0C1916BE1}"/>
                  </a:ext>
                </a:extLst>
              </p14:cNvPr>
              <p14:cNvContentPartPr/>
              <p14:nvPr/>
            </p14:nvContentPartPr>
            <p14:xfrm>
              <a:off x="8609243" y="6321028"/>
              <a:ext cx="2721960" cy="327960"/>
            </p14:xfrm>
          </p:contentPart>
        </mc:Choice>
        <mc:Fallback xmlns="">
          <p:pic>
            <p:nvPicPr>
              <p:cNvPr id="5" name="Ink 4">
                <a:extLst>
                  <a:ext uri="{FF2B5EF4-FFF2-40B4-BE49-F238E27FC236}">
                    <a16:creationId xmlns:a16="http://schemas.microsoft.com/office/drawing/2014/main" id="{E4FED562-40B5-9D04-3A35-12D0C1916BE1}"/>
                  </a:ext>
                </a:extLst>
              </p:cNvPr>
              <p:cNvPicPr/>
              <p:nvPr/>
            </p:nvPicPr>
            <p:blipFill>
              <a:blip r:embed="rId5"/>
              <a:stretch>
                <a:fillRect/>
              </a:stretch>
            </p:blipFill>
            <p:spPr>
              <a:xfrm>
                <a:off x="8591243" y="6303028"/>
                <a:ext cx="2757600" cy="36360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latin typeface="Arial"/>
                <a:ea typeface="Arial"/>
                <a:cs typeface="Arial"/>
                <a:sym typeface="Arial"/>
              </a:rPr>
              <a:t>Role of Agentic AI in the solution </a:t>
            </a:r>
            <a:endParaRPr sz="3200" b="1" i="0" u="none" strike="noStrike" cap="none">
              <a:latin typeface="Arial"/>
              <a:ea typeface="Arial"/>
              <a:cs typeface="Arial"/>
              <a:sym typeface="Arial"/>
            </a:endParaRPr>
          </a:p>
        </p:txBody>
      </p:sp>
      <p:sp>
        <p:nvSpPr>
          <p:cNvPr id="139" name="Google Shape;139;p9"/>
          <p:cNvSpPr txBox="1"/>
          <p:nvPr/>
        </p:nvSpPr>
        <p:spPr>
          <a:xfrm>
            <a:off x="621792" y="1167493"/>
            <a:ext cx="7406640" cy="5262939"/>
          </a:xfrm>
          <a:prstGeom prst="rect">
            <a:avLst/>
          </a:prstGeom>
          <a:noFill/>
          <a:ln>
            <a:noFill/>
          </a:ln>
        </p:spPr>
        <p:txBody>
          <a:bodyPr spcFirstLastPara="1" wrap="square" lIns="91425" tIns="45700" rIns="91425" bIns="45700" anchor="t" anchorCtr="0">
            <a:spAutoFit/>
          </a:bodyPr>
          <a:lstStyle/>
          <a:p>
            <a:r>
              <a:rPr lang="en-US" b="1" dirty="0"/>
              <a:t>Role of Agentic AI in Intelligent Shopping Agent</a:t>
            </a:r>
            <a:br>
              <a:rPr lang="en-US" dirty="0"/>
            </a:br>
            <a:r>
              <a:rPr lang="en-US" dirty="0"/>
              <a:t>Agentic AI enables the Intelligent Shopping Companion to function as an autonomous, goal-oriented system rather than a simple keyword search box. Powered by </a:t>
            </a:r>
            <a:r>
              <a:rPr lang="en-US" b="1" dirty="0"/>
              <a:t>IBM watsonx.ai</a:t>
            </a:r>
            <a:r>
              <a:rPr lang="en-US" dirty="0"/>
              <a:t> and the </a:t>
            </a:r>
            <a:r>
              <a:rPr lang="en-US" b="1" dirty="0"/>
              <a:t>Meta Llama-3.3-70b-instruct model</a:t>
            </a:r>
            <a:r>
              <a:rPr lang="en-US" dirty="0"/>
              <a:t>, it orchestrates multiple specialized computational nodes that collaborate dynamically to optimize consumer buying strategies.</a:t>
            </a:r>
          </a:p>
          <a:p>
            <a:r>
              <a:rPr lang="en-US" dirty="0"/>
              <a:t>Instead of executing single sequential scripts, each architectural agent plays a distinct, targeted role. The </a:t>
            </a:r>
            <a:r>
              <a:rPr lang="en-US" b="1" dirty="0"/>
              <a:t>Marketplace Ingestion Agent</a:t>
            </a:r>
            <a:r>
              <a:rPr lang="en-US" dirty="0"/>
              <a:t> handles multi-retailer schema normalization across Amazon, eBay, and Walmart. Concurrently, the </a:t>
            </a:r>
            <a:r>
              <a:rPr lang="en-US" b="1" dirty="0"/>
              <a:t>Algorithmic Security Agent</a:t>
            </a:r>
            <a:r>
              <a:rPr lang="en-US" dirty="0"/>
              <a:t> evaluates user sentiment data through local phrase-repetition filters, while the </a:t>
            </a:r>
            <a:r>
              <a:rPr lang="en-US" b="1" dirty="0"/>
              <a:t>Market Volatility Agent</a:t>
            </a:r>
            <a:r>
              <a:rPr lang="en-US" dirty="0"/>
              <a:t> parses price-deviation trends. This multi-agent framework ensures complex computational tasks are processed in parallel with high data accuracy.</a:t>
            </a:r>
          </a:p>
          <a:p>
            <a:r>
              <a:rPr lang="en-US" dirty="0"/>
              <a:t>Agentic AI introduces profound </a:t>
            </a:r>
            <a:r>
              <a:rPr lang="en-US" b="1" dirty="0"/>
              <a:t>context awareness</a:t>
            </a:r>
            <a:r>
              <a:rPr lang="en-US" dirty="0"/>
              <a:t> to the platform. It evaluates specific user constraints—such as strict budget boundaries, time-sensitive requirements, and product material attributes—to generate customized purchasing advice. The system supports </a:t>
            </a:r>
            <a:r>
              <a:rPr lang="en-US" b="1" dirty="0"/>
              <a:t>real-time adaptation</a:t>
            </a:r>
            <a:r>
              <a:rPr lang="en-US" dirty="0"/>
              <a:t>, modifying its analysis on demand as the user switches between items like electronics, footwear, or apparel. By communicating across local scripts and cloud endpoints, these agents synthesize complex cross-merchant datasets into smart, reliable purchasing guidelines.</a:t>
            </a:r>
          </a:p>
          <a:p>
            <a:r>
              <a:rPr lang="en-US" dirty="0"/>
              <a:t>Overall, Agentic AI transforms the platform from a static price tracker into a proactive, trustworthy digital shopping companion. It empowers consumers to find optimal deals instantly, filters out deceptive e-commerce fraud, and helps them make highly optimized, eco-friendly buying decisions.</a:t>
            </a:r>
          </a:p>
          <a:p>
            <a:br>
              <a:rPr lang="en-US" dirty="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58902" y="272980"/>
            <a:ext cx="6444496" cy="704017"/>
          </a:xfrm>
          <a:prstGeom prst="rect">
            <a:avLst/>
          </a:prstGeom>
          <a:noFill/>
          <a:ln>
            <a:noFill/>
          </a:ln>
        </p:spPr>
        <p:txBody>
          <a:bodyPr spcFirstLastPara="1" wrap="square" lIns="0" tIns="0" rIns="0" bIns="0" anchor="t" anchorCtr="0">
            <a:noAutofit/>
          </a:bodyPr>
          <a:lstStyle/>
          <a:p>
            <a:pPr lvl="0">
              <a:lnSpc>
                <a:spcPct val="157142"/>
              </a:lnSpc>
            </a:pPr>
            <a:r>
              <a:rPr lang="en-IN" sz="2400" b="1" dirty="0"/>
              <a:t>Cloud Resource Usage</a:t>
            </a:r>
            <a:endParaRPr sz="2400" b="1" i="0" u="none" strike="noStrike" cap="none" dirty="0">
              <a:solidFill>
                <a:srgbClr val="000000"/>
              </a:solidFill>
              <a:latin typeface="Arial"/>
              <a:ea typeface="Arial"/>
              <a:cs typeface="Arial"/>
              <a:sym typeface="Arial"/>
            </a:endParaRPr>
          </a:p>
        </p:txBody>
      </p:sp>
      <p:sp>
        <p:nvSpPr>
          <p:cNvPr id="145" name="Google Shape;145;p39"/>
          <p:cNvSpPr/>
          <p:nvPr/>
        </p:nvSpPr>
        <p:spPr>
          <a:xfrm>
            <a:off x="1184434" y="329163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184434" y="432688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184434" y="536213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FF037255-2C29-043B-BF86-0235E7B62E98}"/>
              </a:ext>
            </a:extLst>
          </p:cNvPr>
          <p:cNvPicPr>
            <a:picLocks noChangeAspect="1"/>
          </p:cNvPicPr>
          <p:nvPr/>
        </p:nvPicPr>
        <p:blipFill>
          <a:blip r:embed="rId3"/>
          <a:stretch>
            <a:fillRect/>
          </a:stretch>
        </p:blipFill>
        <p:spPr>
          <a:xfrm>
            <a:off x="5554980" y="1216564"/>
            <a:ext cx="6223516" cy="4145570"/>
          </a:xfrm>
          <a:prstGeom prst="rect">
            <a:avLst/>
          </a:prstGeom>
        </p:spPr>
      </p:pic>
      <p:sp>
        <p:nvSpPr>
          <p:cNvPr id="4" name="TextBox 3">
            <a:extLst>
              <a:ext uri="{FF2B5EF4-FFF2-40B4-BE49-F238E27FC236}">
                <a16:creationId xmlns:a16="http://schemas.microsoft.com/office/drawing/2014/main" id="{3DB53588-CB1C-F61A-40CB-85DDB079CECC}"/>
              </a:ext>
            </a:extLst>
          </p:cNvPr>
          <p:cNvSpPr txBox="1"/>
          <p:nvPr/>
        </p:nvSpPr>
        <p:spPr>
          <a:xfrm>
            <a:off x="758902" y="1074420"/>
            <a:ext cx="4709160" cy="5478423"/>
          </a:xfrm>
          <a:prstGeom prst="rect">
            <a:avLst/>
          </a:prstGeom>
          <a:noFill/>
        </p:spPr>
        <p:txBody>
          <a:bodyPr wrap="square" rtlCol="0">
            <a:spAutoFit/>
          </a:bodyPr>
          <a:lstStyle/>
          <a:p>
            <a:r>
              <a:rPr lang="en-US" b="1" dirty="0"/>
              <a:t>IBM watsonx.ai Workspace Metrics</a:t>
            </a:r>
            <a:endParaRPr lang="en-US" dirty="0"/>
          </a:p>
          <a:p>
            <a:r>
              <a:rPr lang="en-US" b="1" dirty="0"/>
              <a:t>Project Workspace:</a:t>
            </a:r>
            <a:r>
              <a:rPr lang="en-US" dirty="0"/>
              <a:t> Intelligent Shopping Agent Workspace</a:t>
            </a:r>
          </a:p>
          <a:p>
            <a:r>
              <a:rPr lang="en-US" b="1" dirty="0"/>
              <a:t>Developer Environment:</a:t>
            </a:r>
            <a:r>
              <a:rPr lang="en-US" dirty="0"/>
              <a:t> Authenticated under developer profile Rohit Saini.</a:t>
            </a:r>
          </a:p>
          <a:p>
            <a:r>
              <a:rPr lang="en-US" b="1" dirty="0"/>
              <a:t>Active Server Location:</a:t>
            </a:r>
            <a:r>
              <a:rPr lang="en-US" dirty="0"/>
              <a:t> Hosted securely on the Dallas cloud region gateway infrastructure node [11.2].</a:t>
            </a:r>
          </a:p>
          <a:p>
            <a:r>
              <a:rPr lang="en-US" b="1" dirty="0"/>
              <a:t>Operational Resource Tracking:</a:t>
            </a:r>
            <a:r>
              <a:rPr lang="en-US" dirty="0"/>
              <a:t> The project resource dashboard reads a clean </a:t>
            </a:r>
            <a:r>
              <a:rPr lang="en-US" b="1" dirty="0"/>
              <a:t>0 CUH (Capacity Unit Hours)</a:t>
            </a:r>
            <a:r>
              <a:rPr lang="en-US" dirty="0"/>
              <a:t> balance.</a:t>
            </a:r>
          </a:p>
          <a:p>
            <a:r>
              <a:rPr lang="en-US" b="1" dirty="0"/>
              <a:t>Infrastructure Optimization Notes:</a:t>
            </a:r>
            <a:br>
              <a:rPr lang="en-US" dirty="0"/>
            </a:br>
            <a:r>
              <a:rPr lang="en-US" dirty="0"/>
              <a:t>The application utilizes localized execution via </a:t>
            </a:r>
            <a:r>
              <a:rPr lang="en-US" dirty="0" err="1"/>
              <a:t>Streamlit</a:t>
            </a:r>
            <a:r>
              <a:rPr lang="en-US" dirty="0"/>
              <a:t> to manage the user dashboard, multi-merchant price tables, and regular expression data filters [11.1, 11.3]. Because these resource-intensive processes run locally on the host machine, the application only makes lightweight, discrete API calls to </a:t>
            </a:r>
            <a:r>
              <a:rPr lang="en-US" b="1" dirty="0"/>
              <a:t>watsonx.ai</a:t>
            </a:r>
            <a:r>
              <a:rPr lang="en-US" dirty="0"/>
              <a:t> to trigger foundation model inferences [11.2].</a:t>
            </a:r>
          </a:p>
          <a:p>
            <a:r>
              <a:rPr lang="en-US" dirty="0"/>
              <a:t>By completely bypassing heavy, continuous cloud notebook hosting, the project preserves server allocation tokens and operates entirely within a </a:t>
            </a:r>
            <a:r>
              <a:rPr lang="en-US" b="1" dirty="0"/>
              <a:t>0 CUH framework</a:t>
            </a:r>
            <a:r>
              <a:rPr lang="en-US" dirty="0"/>
              <a:t>. This demonstrates optimal enterprise compute efficiency, cost-effective resource handling, and production-ready commercial scalability.</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CEEDE-9393-D957-39A7-6B2D91292079}"/>
              </a:ext>
            </a:extLst>
          </p:cNvPr>
          <p:cNvSpPr>
            <a:spLocks noGrp="1"/>
          </p:cNvSpPr>
          <p:nvPr>
            <p:ph type="title"/>
          </p:nvPr>
        </p:nvSpPr>
        <p:spPr>
          <a:xfrm>
            <a:off x="571982" y="295677"/>
            <a:ext cx="10515600" cy="1325563"/>
          </a:xfrm>
        </p:spPr>
        <p:txBody>
          <a:bodyPr>
            <a:normAutofit/>
          </a:bodyPr>
          <a:lstStyle/>
          <a:p>
            <a:r>
              <a:rPr lang="en-IN" sz="2800" b="1" dirty="0">
                <a:latin typeface="+mj-lt"/>
              </a:rPr>
              <a:t>Project Demonstration &amp; User Interface Results</a:t>
            </a:r>
            <a:br>
              <a:rPr lang="en-IN" sz="2800" dirty="0"/>
            </a:br>
            <a:endParaRPr lang="en-IN" sz="2800" dirty="0"/>
          </a:p>
        </p:txBody>
      </p:sp>
      <p:sp>
        <p:nvSpPr>
          <p:cNvPr id="3" name="Text Placeholder 2">
            <a:extLst>
              <a:ext uri="{FF2B5EF4-FFF2-40B4-BE49-F238E27FC236}">
                <a16:creationId xmlns:a16="http://schemas.microsoft.com/office/drawing/2014/main" id="{75D46134-0989-AAEE-AA7A-3283BA40D315}"/>
              </a:ext>
            </a:extLst>
          </p:cNvPr>
          <p:cNvSpPr>
            <a:spLocks noGrp="1"/>
          </p:cNvSpPr>
          <p:nvPr>
            <p:ph type="body" idx="1"/>
          </p:nvPr>
        </p:nvSpPr>
        <p:spPr>
          <a:xfrm>
            <a:off x="571982" y="1351062"/>
            <a:ext cx="6210783" cy="4351338"/>
          </a:xfrm>
        </p:spPr>
        <p:txBody>
          <a:bodyPr>
            <a:normAutofit lnSpcReduction="10000"/>
          </a:bodyPr>
          <a:lstStyle/>
          <a:p>
            <a:r>
              <a:rPr lang="en-US" sz="1400" b="1" dirty="0">
                <a:latin typeface="+mn-lt"/>
              </a:rPr>
              <a:t>Integrated Client Control Sidebar:</a:t>
            </a:r>
            <a:r>
              <a:rPr lang="en-US" sz="1400" dirty="0">
                <a:latin typeface="+mn-lt"/>
              </a:rPr>
              <a:t> Features a reactive multi-format dashboard entry box where users can type raw product strings or drag and drop visual binary data.</a:t>
            </a:r>
          </a:p>
          <a:p>
            <a:r>
              <a:rPr lang="en-US" sz="1400" b="1" dirty="0">
                <a:latin typeface="+mn-lt"/>
              </a:rPr>
              <a:t>Live Cognitive Inference Block:</a:t>
            </a:r>
            <a:r>
              <a:rPr lang="en-US" sz="1400" dirty="0">
                <a:latin typeface="+mn-lt"/>
              </a:rPr>
              <a:t> Displays a real-time advisory strategy container generated natively by connecting over secure cloud channels to </a:t>
            </a:r>
            <a:r>
              <a:rPr lang="en-US" sz="1400" b="1" dirty="0">
                <a:latin typeface="+mn-lt"/>
              </a:rPr>
              <a:t>Meta Llama-3.3-70B-Instruct</a:t>
            </a:r>
            <a:r>
              <a:rPr lang="en-US" sz="1400" dirty="0">
                <a:latin typeface="+mn-lt"/>
              </a:rPr>
              <a:t> on </a:t>
            </a:r>
            <a:r>
              <a:rPr lang="en-US" sz="1400" b="1" dirty="0">
                <a:latin typeface="+mn-lt"/>
              </a:rPr>
              <a:t>IBM watsonx.ai.</a:t>
            </a:r>
            <a:endParaRPr lang="en-US" sz="1400" dirty="0">
              <a:latin typeface="+mn-lt"/>
            </a:endParaRPr>
          </a:p>
          <a:p>
            <a:r>
              <a:rPr lang="en-US" sz="1400" b="1" dirty="0">
                <a:latin typeface="+mn-lt"/>
              </a:rPr>
              <a:t>Multi-Merchant Fusion Grid:</a:t>
            </a:r>
            <a:r>
              <a:rPr lang="en-US" sz="1400" dirty="0">
                <a:latin typeface="+mn-lt"/>
              </a:rPr>
              <a:t> Aggregates and normalizes tabular price sheets and inventory parameters side-by-side from Amazon, eBay, and Walmart .</a:t>
            </a:r>
          </a:p>
          <a:p>
            <a:r>
              <a:rPr lang="en-US" sz="1400" b="1" dirty="0">
                <a:latin typeface="+mn-lt"/>
              </a:rPr>
              <a:t>Automated Review Auditor:</a:t>
            </a:r>
            <a:r>
              <a:rPr lang="en-US" sz="1400" dirty="0">
                <a:latin typeface="+mn-lt"/>
              </a:rPr>
              <a:t> Features a reactive </a:t>
            </a:r>
            <a:r>
              <a:rPr lang="en-US" sz="1400" b="1" dirty="0">
                <a:latin typeface="+mn-lt"/>
              </a:rPr>
              <a:t>Review Integrity Card</a:t>
            </a:r>
            <a:r>
              <a:rPr lang="en-US" sz="1400" dirty="0">
                <a:latin typeface="+mn-lt"/>
              </a:rPr>
              <a:t> that automatically triggers a </a:t>
            </a:r>
            <a:r>
              <a:rPr lang="en-US" sz="1400" b="1" dirty="0">
                <a:latin typeface="+mn-lt"/>
              </a:rPr>
              <a:t>Medium warning flag</a:t>
            </a:r>
            <a:r>
              <a:rPr lang="en-US" sz="1400" dirty="0">
                <a:latin typeface="+mn-lt"/>
              </a:rPr>
              <a:t> by running a local Python regex word-frequency algorithm to catch bot phrase repetitions .</a:t>
            </a:r>
          </a:p>
          <a:p>
            <a:r>
              <a:rPr lang="en-US" sz="1400" b="1" dirty="0">
                <a:latin typeface="+mn-lt"/>
              </a:rPr>
              <a:t>Market Volatility Predictor:</a:t>
            </a:r>
            <a:r>
              <a:rPr lang="en-US" sz="1400" dirty="0">
                <a:latin typeface="+mn-lt"/>
              </a:rPr>
              <a:t> Features a color-coded </a:t>
            </a:r>
            <a:r>
              <a:rPr lang="en-US" sz="1400" b="1" dirty="0">
                <a:latin typeface="+mn-lt"/>
              </a:rPr>
              <a:t>Purchase Timing badge</a:t>
            </a:r>
            <a:r>
              <a:rPr lang="en-US" sz="1400" dirty="0">
                <a:latin typeface="+mn-lt"/>
              </a:rPr>
              <a:t> that computes price standard deviations to advise users whether to buy immediately or wait .</a:t>
            </a:r>
          </a:p>
          <a:p>
            <a:r>
              <a:rPr lang="en-US" sz="1400" b="1" dirty="0">
                <a:latin typeface="+mn-lt"/>
              </a:rPr>
              <a:t>Eco-Footprint Tracker:</a:t>
            </a:r>
            <a:r>
              <a:rPr lang="en-US" sz="1400" dirty="0">
                <a:latin typeface="+mn-lt"/>
              </a:rPr>
              <a:t> Displays a responsive material summary list and localized progress bar measuring product sustainability parameters.</a:t>
            </a:r>
          </a:p>
        </p:txBody>
      </p:sp>
      <p:pic>
        <p:nvPicPr>
          <p:cNvPr id="5" name="Picture 4">
            <a:extLst>
              <a:ext uri="{FF2B5EF4-FFF2-40B4-BE49-F238E27FC236}">
                <a16:creationId xmlns:a16="http://schemas.microsoft.com/office/drawing/2014/main" id="{2D1D43C5-90E1-ECE0-EAE0-005E8322F6E4}"/>
              </a:ext>
            </a:extLst>
          </p:cNvPr>
          <p:cNvPicPr>
            <a:picLocks noChangeAspect="1"/>
          </p:cNvPicPr>
          <p:nvPr/>
        </p:nvPicPr>
        <p:blipFill>
          <a:blip r:embed="rId2"/>
          <a:srcRect b="7973"/>
          <a:stretch>
            <a:fillRect/>
          </a:stretch>
        </p:blipFill>
        <p:spPr>
          <a:xfrm>
            <a:off x="6632294" y="1351063"/>
            <a:ext cx="5559706" cy="4089038"/>
          </a:xfrm>
          <a:prstGeom prst="rect">
            <a:avLst/>
          </a:prstGeom>
        </p:spPr>
      </p:pic>
    </p:spTree>
    <p:extLst>
      <p:ext uri="{BB962C8B-B14F-4D97-AF65-F5344CB8AC3E}">
        <p14:creationId xmlns:p14="http://schemas.microsoft.com/office/powerpoint/2010/main" val="3944992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latin typeface="Arial"/>
                <a:ea typeface="Arial"/>
                <a:cs typeface="Arial"/>
                <a:sym typeface="Arial"/>
              </a:rPr>
              <a:t>Novelty and Uniqueness</a:t>
            </a:r>
            <a:endParaRPr sz="2400" b="1" i="0" u="none" strike="noStrike" cap="none">
              <a:latin typeface="Arial"/>
              <a:ea typeface="Arial"/>
              <a:cs typeface="Arial"/>
              <a:sym typeface="Arial"/>
            </a:endParaRPr>
          </a:p>
        </p:txBody>
      </p:sp>
      <p:sp>
        <p:nvSpPr>
          <p:cNvPr id="158" name="Google Shape;158;p40"/>
          <p:cNvSpPr txBox="1"/>
          <p:nvPr/>
        </p:nvSpPr>
        <p:spPr>
          <a:xfrm>
            <a:off x="777240" y="1207008"/>
            <a:ext cx="11301984" cy="4739719"/>
          </a:xfrm>
          <a:prstGeom prst="rect">
            <a:avLst/>
          </a:prstGeom>
          <a:noFill/>
          <a:ln>
            <a:noFill/>
          </a:ln>
        </p:spPr>
        <p:txBody>
          <a:bodyPr spcFirstLastPara="1" wrap="square" lIns="91425" tIns="45700" rIns="91425" bIns="45700" anchor="t" anchorCtr="0">
            <a:spAutoFit/>
          </a:bodyPr>
          <a:lstStyle/>
          <a:p>
            <a:r>
              <a:rPr lang="en-IN" dirty="0">
                <a:latin typeface="+mn-lt"/>
              </a:rPr>
              <a:t>The proposed Intelligent Shopping Agent stands out by combining Agentic AI, decentralized heuristic math filters, and dynamic marketplace synthesis into a single high-integrity platform.</a:t>
            </a:r>
          </a:p>
          <a:p>
            <a:endParaRPr lang="en-IN" dirty="0">
              <a:latin typeface="+mn-lt"/>
            </a:endParaRPr>
          </a:p>
          <a:p>
            <a:r>
              <a:rPr lang="en-IN" b="1" dirty="0">
                <a:latin typeface="+mn-lt"/>
              </a:rPr>
              <a:t>Multi-Agent Intelligence</a:t>
            </a:r>
            <a:r>
              <a:rPr lang="en-IN" dirty="0">
                <a:latin typeface="+mn-lt"/>
              </a:rPr>
              <a:t> – Instead of a basic keyword search box, multiple specialized background scripts collaborate to deliver highly accurate, contextual consumer buying guidance.</a:t>
            </a:r>
            <a:br>
              <a:rPr lang="en-IN" dirty="0">
                <a:latin typeface="+mn-lt"/>
              </a:rPr>
            </a:br>
            <a:r>
              <a:rPr lang="en-IN" b="1" dirty="0">
                <a:latin typeface="+mn-lt"/>
              </a:rPr>
              <a:t>Local Heuristic Verification</a:t>
            </a:r>
            <a:r>
              <a:rPr lang="en-IN" dirty="0">
                <a:latin typeface="+mn-lt"/>
              </a:rPr>
              <a:t> – Integrates custom Python regular expression scans with cloud generation, isolating automated fake review footprints locally to save massive cloud context tokens.</a:t>
            </a:r>
            <a:br>
              <a:rPr lang="en-IN" dirty="0">
                <a:latin typeface="+mn-lt"/>
              </a:rPr>
            </a:br>
            <a:r>
              <a:rPr lang="en-IN" b="1" dirty="0">
                <a:latin typeface="+mn-lt"/>
              </a:rPr>
              <a:t>Statistical Market Forecasting</a:t>
            </a:r>
            <a:r>
              <a:rPr lang="en-IN" dirty="0">
                <a:latin typeface="+mn-lt"/>
              </a:rPr>
              <a:t> – Deploys automated standard deviation models over multi-retailer pricing tables to accurately calculate market volatility indices and buying timing urgency.</a:t>
            </a:r>
            <a:br>
              <a:rPr lang="en-IN" dirty="0">
                <a:latin typeface="+mn-lt"/>
              </a:rPr>
            </a:br>
            <a:r>
              <a:rPr lang="en-IN" b="1" dirty="0">
                <a:latin typeface="+mn-lt"/>
              </a:rPr>
              <a:t>Automated Action Checklists</a:t>
            </a:r>
            <a:r>
              <a:rPr lang="en-IN" dirty="0">
                <a:latin typeface="+mn-lt"/>
              </a:rPr>
              <a:t> – Dynamically constructs an interactive, conditional consumer milestone checklist matching the target product type to streamline buyer decision-making.</a:t>
            </a:r>
            <a:br>
              <a:rPr lang="en-IN" dirty="0">
                <a:latin typeface="+mn-lt"/>
              </a:rPr>
            </a:br>
            <a:r>
              <a:rPr lang="en-IN" b="1" dirty="0">
                <a:latin typeface="+mn-lt"/>
              </a:rPr>
              <a:t>Multi-Modal Ingestion Grid</a:t>
            </a:r>
            <a:r>
              <a:rPr lang="en-IN" dirty="0">
                <a:latin typeface="+mn-lt"/>
              </a:rPr>
              <a:t> – Supports raw alpha-numeric query strings alongside binary multimodal image data streams natively within a single user interface dashboard framework.</a:t>
            </a:r>
            <a:br>
              <a:rPr lang="en-IN" dirty="0">
                <a:latin typeface="+mn-lt"/>
              </a:rPr>
            </a:br>
            <a:r>
              <a:rPr lang="en-IN" b="1" dirty="0">
                <a:latin typeface="+mn-lt"/>
              </a:rPr>
              <a:t>Consumer Fraud Protection Focus</a:t>
            </a:r>
            <a:r>
              <a:rPr lang="en-IN" dirty="0">
                <a:latin typeface="+mn-lt"/>
              </a:rPr>
              <a:t> – Goes beyond simple price tracking to actively shield buyers from dynamic marketplace scams, review manipulation, and e-commerce text anomalies.</a:t>
            </a:r>
            <a:br>
              <a:rPr lang="en-IN" dirty="0">
                <a:latin typeface="+mn-lt"/>
              </a:rPr>
            </a:br>
            <a:r>
              <a:rPr lang="en-IN" b="1" dirty="0">
                <a:latin typeface="+mn-lt"/>
              </a:rPr>
              <a:t>Scalable &amp; Enterprise-Ready</a:t>
            </a:r>
            <a:r>
              <a:rPr lang="en-IN" dirty="0">
                <a:latin typeface="+mn-lt"/>
              </a:rPr>
              <a:t> – Built natively on </a:t>
            </a:r>
            <a:r>
              <a:rPr lang="en-IN" dirty="0" err="1">
                <a:latin typeface="+mn-lt"/>
              </a:rPr>
              <a:t>Streamlit</a:t>
            </a:r>
            <a:r>
              <a:rPr lang="en-IN" dirty="0">
                <a:latin typeface="+mn-lt"/>
              </a:rPr>
              <a:t> and connected over secure cloud gateways to Meta Llama models on IBM watsonx.ai, ensuring enterprise-grade data handling.</a:t>
            </a:r>
          </a:p>
          <a:p>
            <a:endParaRPr lang="en-IN" dirty="0">
              <a:latin typeface="+mn-lt"/>
            </a:endParaRPr>
          </a:p>
          <a:p>
            <a:r>
              <a:rPr lang="en-IN" dirty="0">
                <a:latin typeface="+mn-lt"/>
              </a:rPr>
              <a:t>This makes the solution a smart, adaptive, and proactive digital consumer intelligence layer, not just a static price comparison layout tool.</a:t>
            </a:r>
          </a:p>
          <a:p>
            <a:br>
              <a:rPr lang="en-IN" sz="1800" dirty="0"/>
            </a:br>
            <a:endParaRPr lang="en-IN"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latin typeface="Arial"/>
                <a:ea typeface="Arial"/>
                <a:cs typeface="Arial"/>
                <a:sym typeface="Arial"/>
              </a:rPr>
              <a:t>Git Hub Link</a:t>
            </a:r>
            <a:endParaRPr sz="2400" b="1" i="0" u="none" strike="noStrike" cap="none" dirty="0">
              <a:latin typeface="Arial"/>
              <a:ea typeface="Arial"/>
              <a:cs typeface="Arial"/>
              <a:sym typeface="Arial"/>
            </a:endParaRPr>
          </a:p>
        </p:txBody>
      </p:sp>
      <p:sp>
        <p:nvSpPr>
          <p:cNvPr id="164" name="Google Shape;164;p41"/>
          <p:cNvSpPr/>
          <p:nvPr/>
        </p:nvSpPr>
        <p:spPr>
          <a:xfrm>
            <a:off x="1218723" y="1153713"/>
            <a:ext cx="10518006" cy="3241752"/>
          </a:xfrm>
          <a:prstGeom prst="rect">
            <a:avLst/>
          </a:prstGeom>
          <a:noFill/>
          <a:ln>
            <a:noFill/>
          </a:ln>
        </p:spPr>
        <p:txBody>
          <a:bodyPr spcFirstLastPara="1" wrap="square" lIns="0" tIns="0" rIns="0" bIns="0" anchor="t" anchorCtr="0">
            <a:noAutofit/>
          </a:bodyPr>
          <a:lstStyle/>
          <a:p>
            <a:pPr marL="285750" indent="-285750">
              <a:buFont typeface="Arial" panose="020B0604020202020204" pitchFamily="34" charset="0"/>
              <a:buChar char="•"/>
            </a:pPr>
            <a:r>
              <a:rPr lang="en-IN" b="1" dirty="0"/>
              <a:t>Production Code Repository : </a:t>
            </a:r>
            <a:r>
              <a:rPr lang="en-IN" dirty="0"/>
              <a:t>https://github.com/ROHIT687-sudo/Intelligent_Shopping_Agent.git</a:t>
            </a:r>
            <a:endParaRPr lang="en-IN" b="1" dirty="0"/>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Uploaded Workspace Core Assets:</a:t>
            </a:r>
            <a:endParaRPr lang="en-IN" dirty="0"/>
          </a:p>
          <a:p>
            <a:pPr marL="342900" indent="-342900">
              <a:buFont typeface="+mj-lt"/>
              <a:buAutoNum type="arabicPeriod"/>
            </a:pPr>
            <a:r>
              <a:rPr lang="en-IN" b="1" dirty="0"/>
              <a:t>	app.py</a:t>
            </a:r>
            <a:r>
              <a:rPr lang="en-IN" dirty="0"/>
              <a:t> – Complete application source code built on the unified </a:t>
            </a:r>
            <a:r>
              <a:rPr lang="en-IN" dirty="0" err="1"/>
              <a:t>Streamlit</a:t>
            </a:r>
            <a:r>
              <a:rPr lang="en-IN" dirty="0"/>
              <a:t> server framework .</a:t>
            </a:r>
          </a:p>
          <a:p>
            <a:pPr marL="342900" lvl="2" indent="-342900">
              <a:buFont typeface="+mj-lt"/>
              <a:buAutoNum type="arabicPeriod"/>
            </a:pPr>
            <a:r>
              <a:rPr lang="en-IN" b="1" dirty="0"/>
              <a:t>	requirements.txt</a:t>
            </a:r>
            <a:r>
              <a:rPr lang="en-IN" dirty="0"/>
              <a:t> – Environment lock files containing direct production links for </a:t>
            </a:r>
            <a:r>
              <a:rPr lang="en-IN" dirty="0" err="1"/>
              <a:t>ibm</a:t>
            </a:r>
            <a:r>
              <a:rPr lang="en-IN" dirty="0"/>
              <a:t>-</a:t>
            </a:r>
            <a:r>
              <a:rPr lang="en-IN" dirty="0" err="1"/>
              <a:t>watsonx</a:t>
            </a:r>
            <a:r>
              <a:rPr lang="en-IN" dirty="0"/>
              <a:t>-ai and python-</a:t>
            </a:r>
            <a:r>
              <a:rPr lang="en-IN" dirty="0" err="1"/>
              <a:t>dotenv</a:t>
            </a:r>
            <a:r>
              <a:rPr lang="en-IN" dirty="0"/>
              <a:t>.</a:t>
            </a:r>
          </a:p>
          <a:p>
            <a:pPr marL="342900" lvl="2" indent="-342900">
              <a:buFont typeface="+mj-lt"/>
              <a:buAutoNum type="arabicPeriod"/>
            </a:pPr>
            <a:r>
              <a:rPr lang="en-IN" b="1" dirty="0"/>
              <a:t>	Problem statement 2026-2027 (1).docx</a:t>
            </a:r>
            <a:r>
              <a:rPr lang="en-IN" dirty="0"/>
              <a:t> – Official project assessment reference documentation matching Problem              					Statement No. 11.</a:t>
            </a:r>
          </a:p>
          <a:p>
            <a:pPr marL="342900" lvl="2" indent="-342900">
              <a:buFont typeface="+mj-lt"/>
              <a:buAutoNum type="arabicPeriod"/>
            </a:pPr>
            <a:r>
              <a:rPr lang="en-IN" b="1" dirty="0"/>
              <a:t>	</a:t>
            </a:r>
            <a:r>
              <a:rPr lang="en-US" b="1" dirty="0"/>
              <a:t>Intelligent_Shopping_Agent_Problem_11</a:t>
            </a:r>
            <a:r>
              <a:rPr lang="en-IN" b="1" dirty="0"/>
              <a:t>.pptx</a:t>
            </a:r>
            <a:r>
              <a:rPr lang="en-IN" dirty="0"/>
              <a:t> – Complete system evaluation deck detailing architecture matrices and 					watsonx.ai configurations (To be uploaded upon final PowerPoint export).</a:t>
            </a:r>
          </a:p>
          <a:p>
            <a:pPr lvl="2"/>
            <a:br>
              <a:rPr lang="en-IN" sz="2000" dirty="0"/>
            </a:br>
            <a:endParaRPr lang="en-IN" sz="2000" dirty="0"/>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latin typeface="Arial"/>
                <a:ea typeface="Arial"/>
                <a:cs typeface="Arial"/>
                <a:sym typeface="Arial"/>
              </a:rPr>
              <a:t>Future Scope </a:t>
            </a:r>
            <a:endParaRPr sz="2400" b="1" i="0" u="none" strike="noStrike" cap="none">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indent="-342900">
              <a:buFont typeface="+mj-lt"/>
              <a:buAutoNum type="arabicPeriod"/>
            </a:pPr>
            <a:r>
              <a:rPr lang="en-US" b="1" dirty="0"/>
              <a:t>Multi-Platform Web Extensions &amp; Live Price Tracking –</a:t>
            </a:r>
            <a:br>
              <a:rPr lang="en-US" dirty="0"/>
            </a:br>
            <a:r>
              <a:rPr lang="en-US" dirty="0"/>
              <a:t>The application can be scaled into a native browser extension to automatically track products as users browse external e-commerce sites. This upgrade will enable real-time background price monitoring, sending instant push notifications or webhooks when standard deviation math detects an optimal, low-volatility price drop.</a:t>
            </a:r>
          </a:p>
          <a:p>
            <a:pPr marL="342900" indent="-342900">
              <a:buFont typeface="+mj-lt"/>
              <a:buAutoNum type="arabicPeriod"/>
            </a:pPr>
            <a:endParaRPr lang="en-US" dirty="0"/>
          </a:p>
          <a:p>
            <a:pPr marL="342900" indent="-342900">
              <a:buFont typeface="+mj-lt"/>
              <a:buAutoNum type="arabicPeriod"/>
            </a:pPr>
            <a:r>
              <a:rPr lang="en-US" b="1" dirty="0"/>
              <a:t>Cross-Border Currency Conversion &amp; International Logistics –</a:t>
            </a:r>
            <a:br>
              <a:rPr lang="en-US" dirty="0"/>
            </a:br>
            <a:r>
              <a:rPr lang="en-US" dirty="0"/>
              <a:t>Enhancing the ingestion framework to support localized multi-currency conversions and duty fee estimations will significantly broaden the platform's global footprint. Integrating real-time international shipping variables will empower users to compare absolute landed costs side-by-side across various global supply networks seamlessly.</a:t>
            </a:r>
          </a:p>
          <a:p>
            <a:pPr marL="342900" indent="-342900">
              <a:buFont typeface="+mj-lt"/>
              <a:buAutoNum type="arabicPeriod"/>
            </a:pPr>
            <a:endParaRPr lang="en-US" dirty="0"/>
          </a:p>
          <a:p>
            <a:pPr marL="342900" indent="-342900">
              <a:buFont typeface="+mj-lt"/>
              <a:buAutoNum type="arabicPeriod"/>
            </a:pPr>
            <a:r>
              <a:rPr lang="en-US" b="1" dirty="0"/>
              <a:t>Advanced Multi-Modal Visual Inspection Frameworks –</a:t>
            </a:r>
            <a:br>
              <a:rPr lang="en-US" dirty="0"/>
            </a:br>
            <a:r>
              <a:rPr lang="en-US" dirty="0"/>
              <a:t>Expanding the visual input capabilities will allow the agent to run deeper object detection algorithms on uploaded images. The platform will not only parse text labels but also analyze fine structural details, material defects, or brand authenticity elements directly through the </a:t>
            </a:r>
            <a:r>
              <a:rPr lang="en-US" b="1" dirty="0"/>
              <a:t>IBM watsonx.ai</a:t>
            </a:r>
            <a:r>
              <a:rPr lang="en-US" dirty="0"/>
              <a:t> vision modeling node.</a:t>
            </a:r>
          </a:p>
          <a:p>
            <a:br>
              <a:rPr lang="en-US" sz="2000" dirty="0"/>
            </a:br>
            <a:endParaRPr lang="en-US" sz="2000" dirty="0"/>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43"/>
          <p:cNvPicPr preferRelativeResize="0"/>
          <p:nvPr/>
        </p:nvPicPr>
        <p:blipFill>
          <a:blip r:embed="rId3">
            <a:alphaModFix/>
          </a:blip>
          <a:srcRect/>
          <a:stretch/>
        </p:blipFill>
        <p:spPr>
          <a:xfrm>
            <a:off x="1594763" y="1485577"/>
            <a:ext cx="6854756" cy="4682362"/>
          </a:xfrm>
          <a:prstGeom prst="rect">
            <a:avLst/>
          </a:prstGeom>
          <a:noFill/>
          <a:ln>
            <a:noFill/>
          </a:ln>
        </p:spPr>
      </p:pic>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err="1"/>
              <a:t>C</a:t>
            </a:r>
            <a:r>
              <a:rPr lang="en-US" sz="2800" b="1" i="0" u="none" strike="noStrike" cap="none" dirty="0" err="1">
                <a:solidFill>
                  <a:srgbClr val="000000"/>
                </a:solidFill>
                <a:latin typeface="Arial"/>
                <a:ea typeface="Arial"/>
                <a:cs typeface="Arial"/>
                <a:sym typeface="Arial"/>
              </a:rPr>
              <a:t>redly</a:t>
            </a:r>
            <a:r>
              <a:rPr lang="en-US" sz="2800" b="1" i="0" u="none" strike="noStrike" cap="none" dirty="0">
                <a:solidFill>
                  <a:srgbClr val="000000"/>
                </a:solidFill>
                <a:latin typeface="Arial"/>
                <a:ea typeface="Arial"/>
                <a:cs typeface="Arial"/>
                <a:sym typeface="Arial"/>
              </a:rPr>
              <a:t> certificate 1: </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81;p43">
            <a:extLst>
              <a:ext uri="{FF2B5EF4-FFF2-40B4-BE49-F238E27FC236}">
                <a16:creationId xmlns:a16="http://schemas.microsoft.com/office/drawing/2014/main" id="{D7C7E275-8A1B-7BA3-413B-5A45119B61C0}"/>
              </a:ext>
            </a:extLst>
          </p:cNvPr>
          <p:cNvPicPr preferRelativeResize="0"/>
          <p:nvPr/>
        </p:nvPicPr>
        <p:blipFill>
          <a:blip r:embed="rId2">
            <a:alphaModFix/>
          </a:blip>
          <a:srcRect/>
          <a:stretch/>
        </p:blipFill>
        <p:spPr>
          <a:xfrm>
            <a:off x="1901662" y="1485577"/>
            <a:ext cx="6559432" cy="4868924"/>
          </a:xfrm>
          <a:prstGeom prst="rect">
            <a:avLst/>
          </a:prstGeom>
          <a:noFill/>
          <a:ln>
            <a:noFill/>
          </a:ln>
        </p:spPr>
      </p:pic>
      <p:sp>
        <p:nvSpPr>
          <p:cNvPr id="5" name="Google Shape;182;p43">
            <a:extLst>
              <a:ext uri="{FF2B5EF4-FFF2-40B4-BE49-F238E27FC236}">
                <a16:creationId xmlns:a16="http://schemas.microsoft.com/office/drawing/2014/main" id="{1790D1DF-E333-5196-902D-ED27C5DA37D5}"/>
              </a:ext>
            </a:extLst>
          </p:cNvPr>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 name="Google Shape;183;p43">
            <a:extLst>
              <a:ext uri="{FF2B5EF4-FFF2-40B4-BE49-F238E27FC236}">
                <a16:creationId xmlns:a16="http://schemas.microsoft.com/office/drawing/2014/main" id="{5AC1179C-4089-BF85-1598-13DED5FB0967}"/>
              </a:ext>
            </a:extLst>
          </p:cNvPr>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err="1"/>
              <a:t>C</a:t>
            </a:r>
            <a:r>
              <a:rPr lang="en-US" sz="2800" b="1" i="0" u="none" strike="noStrike" cap="none" dirty="0" err="1">
                <a:solidFill>
                  <a:srgbClr val="000000"/>
                </a:solidFill>
                <a:latin typeface="Arial"/>
                <a:ea typeface="Arial"/>
                <a:cs typeface="Arial"/>
                <a:sym typeface="Arial"/>
              </a:rPr>
              <a:t>redly</a:t>
            </a:r>
            <a:r>
              <a:rPr lang="en-US" sz="2800" b="1" i="0" u="none" strike="noStrike" cap="none" dirty="0">
                <a:solidFill>
                  <a:srgbClr val="000000"/>
                </a:solidFill>
                <a:latin typeface="Arial"/>
                <a:ea typeface="Arial"/>
                <a:cs typeface="Arial"/>
                <a:sym typeface="Arial"/>
              </a:rPr>
              <a:t> certificate 2: </a:t>
            </a:r>
            <a:endParaRPr dirty="0"/>
          </a:p>
        </p:txBody>
      </p:sp>
    </p:spTree>
    <p:extLst>
      <p:ext uri="{BB962C8B-B14F-4D97-AF65-F5344CB8AC3E}">
        <p14:creationId xmlns:p14="http://schemas.microsoft.com/office/powerpoint/2010/main" val="810273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44"/>
          <p:cNvPicPr preferRelativeResize="0"/>
          <p:nvPr/>
        </p:nvPicPr>
        <p:blipFill>
          <a:blip r:embed="rId3">
            <a:alphaModFix/>
          </a:blip>
          <a:srcRect l="2025" r="2025"/>
          <a:stretch/>
        </p:blipFill>
        <p:spPr>
          <a:xfrm>
            <a:off x="2512736" y="1712637"/>
            <a:ext cx="7177553" cy="4658577"/>
          </a:xfrm>
          <a:prstGeom prst="rect">
            <a:avLst/>
          </a:prstGeom>
          <a:noFill/>
          <a:ln>
            <a:noFill/>
          </a:ln>
        </p:spPr>
      </p:pic>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 IBM BOB Certificate</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TotalTime>
  <Words>2327</Words>
  <Application>Microsoft Office PowerPoint</Application>
  <PresentationFormat>Widescreen</PresentationFormat>
  <Paragraphs>161</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Intelligent Shopping Agent: A Cognitive Consumer Intelligence Platform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Demonstration &amp; User Interface Results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amit अग्रवाल</cp:lastModifiedBy>
  <cp:revision>7</cp:revision>
  <dcterms:created xsi:type="dcterms:W3CDTF">2025-07-08T05:06:56Z</dcterms:created>
  <dcterms:modified xsi:type="dcterms:W3CDTF">2026-07-10T08:03:17Z</dcterms:modified>
</cp:coreProperties>
</file>